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c7459cde-8508-e15d-ff03-f5bbaa19765c}">
          <p14:sldIdLst>
            <p14:sldId id="256"/>
            <p14:sldId id="257"/>
          </p14:sldIdLst>
        </p14:section>
        <p14:section name="How" id="{1f835d36-e4f5-bbcb-58e5-4b40560232da}">
          <p14:sldIdLst>
            <p14:sldId id="258"/>
            <p14:sldId id="259"/>
          </p14:sldIdLst>
        </p14:section>
        <p14:section name="Proof" id="{da9b11c9-d24a-590c-d367-689da6a49bb7}">
          <p14:sldIdLst>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Net points per strategy</c:v>
                </c:pt>
              </c:strCache>
            </c:strRef>
          </c:tx>
          <c:spPr>
            <a:solidFill>
              <a:srgbClr val="B44A12"/>
            </a:solidFill>
            <a:effectLst/>
          </c:spPr>
          <c:invertIfNegative val="0"/>
          <c:dLbls>
            <c:numFmt formatCode="+0.0;−0.0;0" sourceLinked="0"/>
            <c:txPr>
              <a:bodyPr/>
              <a:lstStyle/>
              <a:p>
                <a:pPr>
                  <a:defRPr b="0" i="0" strike="noStrike" sz="1400" u="none">
                    <a:solidFill>
                      <a:srgbClr val="14171C"/>
                    </a:solidFill>
                    <a:latin typeface="+mn-lt"/>
                  </a:defRPr>
                </a:pPr>
              </a:p>
            </c:txPr>
            <c:showLegendKey val="0"/>
            <c:showVal val="1"/>
            <c:showCatName val="0"/>
            <c:showSerName val="0"/>
            <c:showPercent val="0"/>
            <c:showBubbleSize val="0"/>
            <c:showLeaderLines val="0"/>
          </c:dLbls>
          <c:dPt>
            <c:idx val="0"/>
            <c:invertIfNegative val="0"/>
            <c:bubble3D val="0"/>
            <c:spPr>
              <a:solidFill>
                <a:srgbClr val="B44A12"/>
              </a:solidFill>
              <a:effectLst/>
            </c:spPr>
          </c:dPt>
          <c:dPt>
            <c:idx val="1"/>
            <c:invertIfNegative val="0"/>
            <c:bubble3D val="0"/>
            <c:spPr>
              <a:solidFill>
                <a:srgbClr val="B44A12"/>
              </a:solidFill>
              <a:effectLst/>
            </c:spPr>
          </c:dPt>
          <c:dPt>
            <c:idx val="2"/>
            <c:invertIfNegative val="0"/>
            <c:bubble3D val="0"/>
            <c:spPr>
              <a:solidFill>
                <a:srgbClr val="9AA3B2"/>
              </a:solidFill>
              <a:effectLst/>
            </c:spPr>
          </c:dPt>
          <c:dPt>
            <c:idx val="3"/>
            <c:invertIfNegative val="0"/>
            <c:bubble3D val="0"/>
            <c:spPr>
              <a:solidFill>
                <a:srgbClr val="9AA3B2"/>
              </a:solidFill>
              <a:effectLst/>
            </c:spPr>
          </c:dPt>
          <c:cat>
            <c:multiLvlStrRef>
              <c:f>Sheet1!$A$2:$A$5</c:f>
              <c:multiLvlStrCache>
                <c:ptCount val="4"/>
                <c:lvl>
                  <c:pt idx="0">
                    <c:v>Final pipeline</c:v>
                  </c:pt>
                  <c:pt idx="1">
                    <c:v>With the sparring draft</c:v>
                  </c:pt>
                  <c:pt idx="2">
                    <c:v>Without improvement rounds</c:v>
                  </c:pt>
                  <c:pt idx="3">
                    <c:v>One-shot baseline</c:v>
                  </c:pt>
                </c:lvl>
              </c:multiLvlStrCache>
            </c:multiLvlStrRef>
          </c:cat>
          <c:val>
            <c:numRef>
              <c:f>Sheet1!$B$2:$B$5</c:f>
              <c:numCache>
                <c:formatCode>General</c:formatCode>
                <c:ptCount val="4"/>
                <c:pt idx="0">
                  <c:v>113</c:v>
                </c:pt>
                <c:pt idx="1">
                  <c:v>63.5</c:v>
                </c:pt>
                <c:pt idx="2">
                  <c:v>-61</c:v>
                </c:pt>
                <c:pt idx="3">
                  <c:v>-115.5</c:v>
                </c:pt>
              </c:numCache>
            </c:numRef>
          </c:val>
        </c:ser>
        <c:dLbls>
          <c:numFmt formatCode="+0.0;−0.0;0" sourceLinked="0"/>
          <c:txPr>
            <a:bodyPr/>
            <a:lstStyle/>
            <a:p>
              <a:pPr>
                <a:defRPr b="0" i="0" strike="noStrike" sz="1400" u="none">
                  <a:solidFill>
                    <a:srgbClr val="14171C"/>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noFill/>
            <a:prstDash val="solid"/>
            <a:round/>
          </a:ln>
        </c:spPr>
        <c:txPr>
          <a:bodyPr/>
          <a:lstStyle/>
          <a:p>
            <a:pPr>
              <a:defRPr sz="1400" b="0" i="0" u="none" strike="noStrike">
                <a:solidFill>
                  <a:srgbClr val="14171C"/>
                </a:solidFill>
                <a:latin typeface="+mn-lt"/>
              </a:defRPr>
            </a:pPr>
            <a:endParaRPr lang="en-US"/>
          </a:p>
        </c:txPr>
        <c:crossAx val="2094734552"/>
        <c:crosses val="autoZero"/>
        <c:auto val="1"/>
        <c:lblAlgn val="ctr"/>
        <c:noMultiLvlLbl val="1"/>
      </c:catAx>
      <c:valAx>
        <c:axId val="2094734552"/>
        <c:scaling>
          <c:orientation val="minMax"/>
          <c:max val="150"/>
          <c:min val="-15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Hi, we are [team]. Our harness gets a game it has never seen, only as a written spec, and has to hand back a strategy that wins. Alone, in a sandbox, on a fixed budget. In three minutes: the idea, how we built it, and what we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(0:15–0:40) The task: a written game spec in, a strategy file out, unattended, on three budgets from three cents and three minutes up to ten dollars and thirty minutes. Only wins count. We started with research: Google DeepMind’s Code World Models show that an LLM writing a simulator and search code wins about 85% of games, against about 30% when it plays move by move. So our insight: the LLM is the programmer, not the player, and nothing it writes is trusted before it is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(0:40–1:15) The pipeline. It writes several strategy drafts with different strategic personas and, in parallel, a simulator of the game. Nothing is trusted: the simulator must reproduce the spec’s worked examples, every draft is probed and repaired from its tracebacks. The survivors play a round robin on the simulator, both seats, many seeds, under the tournament’s real time limits. Then the strongest model writes challengers against the champion’s weak spots, and we repeat while time and money last. Around all of it, a guard: hard timer, fallback strategy, output check, so a forfeit is impossible by construction. Budget and deadline are enforced per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(1:15–1:45) We built the harness the way it works itself. Claude Code was our engineering team: parallel agents wrote and reviewed every module, held to 216 tests. Then we ran loops. Besides the two dev games we built six games of our own with new mechanics, and kept two of them out of all tuning, as an honest exam. Each epoch: switch features off one at a time, measure, keep only what wins. 58 runs, about 21 dollars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(1:45–2:15) This is what the loops told us. Each bar is a variant of our harness in a tournament against the others, scored like the real event. The one-shot baseline, one draft, which is what a typical harness ships, comes last. Without improvement rounds we lose. The sparring draft we believed in made selection worse, so the data removed it. The final pipeline wins: 48 to 0 head-to-head against the one-shot baseline on beta. In epoch 2, every feature we tried to remove again lost on two of three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(2:15–2:35) The real question is unseen games. Two of our games never touched tuning. On them, the full pipeline beats the one-shot baseline 44 to 1 to 3 and 32 to 0 to 16. And robustness: all 53 strategies from our experiments pass the official conformance check. Zero forfeits.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(2:35–3:00) Finally, one real run, recorded in the evaluation’s Docker container on the task-A budget. After 24 seconds the first valid draft leads. At 35 seconds the simulator fails a worked example from the spec, at 68 it is repaired and passes. Self-play ranks the drafts, an improvement round adds a challenger, and at 141 seconds the champion is delivered, for 1.8 cents. Spec in, strategy out, never a forfeit. Thank you.
LIVE DEMO OPTION: start `./run.sh tasks/beta-A` on a second screen when the pitch begins (about 2.5 minutes, about $0.02); on this slide show its last lines (exit code 0) and `arena check ... PASSED`. If anything goes wrong, this slide is the recorded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12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13232"/>
            <a:ext cx="11094415" cy="822960"/>
          </a:xfrm>
          <a:prstGeom prst="rect">
            <a:avLst/>
          </a:prstGeom>
          <a:noFill/>
          <a:ln/>
        </p:spPr>
        <p:txBody>
          <a:bodyPr wrap="square" rtlCol="0"/>
          <a:lstStyle>
            <a:lvl1pPr algn="l" indent="0" marL="0">
              <a:buNone/>
              <a:defRPr lang="en-US" sz="3400" b="1" dirty="0">
                <a:solidFill>
                  <a:srgbClr val="F3F0E8"/>
                </a:solidFill>
                <a:latin typeface="Century Gothic" pitchFamily="34" charset="0"/>
                <a:ea typeface="Century Gothic" pitchFamily="34" charset="-122"/>
                <a:cs typeface="Century Gothic"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D8694"/>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5F6F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13232"/>
            <a:ext cx="11094415" cy="822960"/>
          </a:xfrm>
          <a:prstGeom prst="rect">
            <a:avLst/>
          </a:prstGeom>
          <a:noFill/>
          <a:ln/>
        </p:spPr>
        <p:txBody>
          <a:bodyPr wrap="square" rtlCol="0"/>
          <a:lstStyle>
            <a:lvl1pPr algn="l" indent="0" marL="0">
              <a:buNone/>
              <a:defRPr lang="en-US" sz="3400" b="1" dirty="0">
                <a:solidFill>
                  <a:srgbClr val="14171C"/>
                </a:solidFill>
                <a:latin typeface="Century Gothic" pitchFamily="34" charset="0"/>
                <a:ea typeface="Century Gothic" pitchFamily="34" charset="-122"/>
                <a:cs typeface="Century Gothic"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CCENT">
    <p:bg>
      <p:bgPr>
        <a:solidFill>
          <a:srgbClr val="FF7A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13232"/>
            <a:ext cx="11094415" cy="822960"/>
          </a:xfrm>
          <a:prstGeom prst="rect">
            <a:avLst/>
          </a:prstGeom>
          <a:noFill/>
          <a:ln/>
        </p:spPr>
        <p:txBody>
          <a:bodyPr wrap="square" rtlCol="0"/>
          <a:lstStyle>
            <a:lvl1pPr algn="l" indent="0" marL="0">
              <a:buNone/>
              <a:defRPr lang="en-US" sz="3400" b="1" dirty="0">
                <a:solidFill>
                  <a:srgbClr val="0F1218"/>
                </a:solidFill>
                <a:latin typeface="Century Gothic" pitchFamily="34" charset="0"/>
                <a:ea typeface="Century Gothic" pitchFamily="34" charset="-122"/>
                <a:cs typeface="Century Gothic"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3A2010"/>
                </a:solidFill>
                <a:latin typeface="Consolas"/>
                <a:ea typeface="Consolas"/>
                <a:cs typeface="Consolas"/>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0F121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D8694"/>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flipV="1">
            <a:off x="7825435" y="2459736"/>
            <a:ext cx="907085" cy="1020470"/>
          </a:xfrm>
          <a:prstGeom prst="line">
            <a:avLst/>
          </a:prstGeom>
          <a:noFill/>
          <a:ln w="19050">
            <a:solidFill>
              <a:srgbClr val="2A313C"/>
            </a:solidFill>
            <a:prstDash val="solid"/>
          </a:ln>
        </p:spPr>
      </p:sp>
      <p:sp>
        <p:nvSpPr>
          <p:cNvPr id="3" name="Shape 1"/>
          <p:cNvSpPr/>
          <p:nvPr/>
        </p:nvSpPr>
        <p:spPr>
          <a:xfrm>
            <a:off x="7825435" y="3480206"/>
            <a:ext cx="907085" cy="1020470"/>
          </a:xfrm>
          <a:prstGeom prst="line">
            <a:avLst/>
          </a:prstGeom>
          <a:noFill/>
          <a:ln w="19050">
            <a:solidFill>
              <a:srgbClr val="2A313C"/>
            </a:solidFill>
            <a:prstDash val="solid"/>
          </a:ln>
        </p:spPr>
      </p:sp>
      <p:sp>
        <p:nvSpPr>
          <p:cNvPr id="4" name="Shape 2"/>
          <p:cNvSpPr/>
          <p:nvPr/>
        </p:nvSpPr>
        <p:spPr>
          <a:xfrm flipV="1">
            <a:off x="8732520" y="1949501"/>
            <a:ext cx="963778" cy="510235"/>
          </a:xfrm>
          <a:prstGeom prst="line">
            <a:avLst/>
          </a:prstGeom>
          <a:noFill/>
          <a:ln w="19050">
            <a:solidFill>
              <a:srgbClr val="2A313C"/>
            </a:solidFill>
            <a:prstDash val="solid"/>
          </a:ln>
        </p:spPr>
      </p:sp>
      <p:sp>
        <p:nvSpPr>
          <p:cNvPr id="5" name="Shape 3"/>
          <p:cNvSpPr/>
          <p:nvPr/>
        </p:nvSpPr>
        <p:spPr>
          <a:xfrm>
            <a:off x="8732520" y="2459736"/>
            <a:ext cx="963778" cy="1020470"/>
          </a:xfrm>
          <a:prstGeom prst="line">
            <a:avLst/>
          </a:prstGeom>
          <a:noFill/>
          <a:ln w="19050">
            <a:solidFill>
              <a:srgbClr val="2A313C"/>
            </a:solidFill>
            <a:prstDash val="solid"/>
          </a:ln>
        </p:spPr>
      </p:sp>
      <p:sp>
        <p:nvSpPr>
          <p:cNvPr id="6" name="Shape 4"/>
          <p:cNvSpPr/>
          <p:nvPr/>
        </p:nvSpPr>
        <p:spPr>
          <a:xfrm flipV="1">
            <a:off x="8732520" y="3480206"/>
            <a:ext cx="963778" cy="1020470"/>
          </a:xfrm>
          <a:prstGeom prst="line">
            <a:avLst/>
          </a:prstGeom>
          <a:noFill/>
          <a:ln w="19050">
            <a:solidFill>
              <a:srgbClr val="2A313C"/>
            </a:solidFill>
            <a:prstDash val="solid"/>
          </a:ln>
        </p:spPr>
      </p:sp>
      <p:sp>
        <p:nvSpPr>
          <p:cNvPr id="7" name="Shape 5"/>
          <p:cNvSpPr/>
          <p:nvPr/>
        </p:nvSpPr>
        <p:spPr>
          <a:xfrm>
            <a:off x="8732520" y="4500677"/>
            <a:ext cx="963778" cy="510235"/>
          </a:xfrm>
          <a:prstGeom prst="line">
            <a:avLst/>
          </a:prstGeom>
          <a:noFill/>
          <a:ln w="19050">
            <a:solidFill>
              <a:srgbClr val="2A313C"/>
            </a:solidFill>
            <a:prstDash val="solid"/>
          </a:ln>
        </p:spPr>
      </p:sp>
      <p:sp>
        <p:nvSpPr>
          <p:cNvPr id="8" name="Shape 6"/>
          <p:cNvSpPr/>
          <p:nvPr/>
        </p:nvSpPr>
        <p:spPr>
          <a:xfrm>
            <a:off x="9696298" y="1949501"/>
            <a:ext cx="963778" cy="737006"/>
          </a:xfrm>
          <a:prstGeom prst="line">
            <a:avLst/>
          </a:prstGeom>
          <a:noFill/>
          <a:ln w="19050">
            <a:solidFill>
              <a:srgbClr val="2A313C"/>
            </a:solidFill>
            <a:prstDash val="solid"/>
          </a:ln>
        </p:spPr>
      </p:sp>
      <p:sp>
        <p:nvSpPr>
          <p:cNvPr id="9" name="Shape 7"/>
          <p:cNvSpPr/>
          <p:nvPr/>
        </p:nvSpPr>
        <p:spPr>
          <a:xfrm flipV="1">
            <a:off x="9696298" y="2686507"/>
            <a:ext cx="963778" cy="793699"/>
          </a:xfrm>
          <a:prstGeom prst="line">
            <a:avLst/>
          </a:prstGeom>
          <a:noFill/>
          <a:ln w="19050">
            <a:solidFill>
              <a:srgbClr val="2A313C"/>
            </a:solidFill>
            <a:prstDash val="solid"/>
          </a:ln>
        </p:spPr>
      </p:sp>
      <p:sp>
        <p:nvSpPr>
          <p:cNvPr id="10" name="Shape 8"/>
          <p:cNvSpPr/>
          <p:nvPr/>
        </p:nvSpPr>
        <p:spPr>
          <a:xfrm>
            <a:off x="9696298" y="3480206"/>
            <a:ext cx="963778" cy="793699"/>
          </a:xfrm>
          <a:prstGeom prst="line">
            <a:avLst/>
          </a:prstGeom>
          <a:noFill/>
          <a:ln w="19050">
            <a:solidFill>
              <a:srgbClr val="2A313C"/>
            </a:solidFill>
            <a:prstDash val="solid"/>
          </a:ln>
        </p:spPr>
      </p:sp>
      <p:sp>
        <p:nvSpPr>
          <p:cNvPr id="11" name="Shape 9"/>
          <p:cNvSpPr/>
          <p:nvPr/>
        </p:nvSpPr>
        <p:spPr>
          <a:xfrm flipV="1">
            <a:off x="9696298" y="4273906"/>
            <a:ext cx="963778" cy="737006"/>
          </a:xfrm>
          <a:prstGeom prst="line">
            <a:avLst/>
          </a:prstGeom>
          <a:noFill/>
          <a:ln w="19050">
            <a:solidFill>
              <a:srgbClr val="2A313C"/>
            </a:solidFill>
            <a:prstDash val="solid"/>
          </a:ln>
        </p:spPr>
      </p:sp>
      <p:sp>
        <p:nvSpPr>
          <p:cNvPr id="12" name="Shape 10"/>
          <p:cNvSpPr/>
          <p:nvPr/>
        </p:nvSpPr>
        <p:spPr>
          <a:xfrm>
            <a:off x="10660075" y="2686507"/>
            <a:ext cx="566928" cy="793699"/>
          </a:xfrm>
          <a:prstGeom prst="line">
            <a:avLst/>
          </a:prstGeom>
          <a:noFill/>
          <a:ln w="19050">
            <a:solidFill>
              <a:srgbClr val="2A313C"/>
            </a:solidFill>
            <a:prstDash val="solid"/>
          </a:ln>
        </p:spPr>
      </p:sp>
      <p:sp>
        <p:nvSpPr>
          <p:cNvPr id="13" name="Shape 11"/>
          <p:cNvSpPr/>
          <p:nvPr/>
        </p:nvSpPr>
        <p:spPr>
          <a:xfrm flipV="1">
            <a:off x="10660075" y="3480206"/>
            <a:ext cx="566928" cy="793699"/>
          </a:xfrm>
          <a:prstGeom prst="line">
            <a:avLst/>
          </a:prstGeom>
          <a:noFill/>
          <a:ln w="19050">
            <a:solidFill>
              <a:srgbClr val="2A313C"/>
            </a:solidFill>
            <a:prstDash val="solid"/>
          </a:ln>
        </p:spPr>
      </p:sp>
      <p:sp>
        <p:nvSpPr>
          <p:cNvPr id="14" name="Shape 12"/>
          <p:cNvSpPr/>
          <p:nvPr/>
        </p:nvSpPr>
        <p:spPr>
          <a:xfrm>
            <a:off x="9696298" y="1949501"/>
            <a:ext cx="914" cy="1530706"/>
          </a:xfrm>
          <a:prstGeom prst="line">
            <a:avLst/>
          </a:prstGeom>
          <a:noFill/>
          <a:ln w="19050">
            <a:solidFill>
              <a:srgbClr val="2A313C"/>
            </a:solidFill>
            <a:prstDash val="solid"/>
          </a:ln>
        </p:spPr>
      </p:sp>
      <p:sp>
        <p:nvSpPr>
          <p:cNvPr id="15" name="Shape 13"/>
          <p:cNvSpPr/>
          <p:nvPr/>
        </p:nvSpPr>
        <p:spPr>
          <a:xfrm flipV="1">
            <a:off x="7825435" y="2459736"/>
            <a:ext cx="907085" cy="1020470"/>
          </a:xfrm>
          <a:prstGeom prst="line">
            <a:avLst/>
          </a:prstGeom>
          <a:noFill/>
          <a:ln w="44450">
            <a:solidFill>
              <a:srgbClr val="FF7A33"/>
            </a:solidFill>
            <a:prstDash val="solid"/>
          </a:ln>
        </p:spPr>
      </p:sp>
      <p:sp>
        <p:nvSpPr>
          <p:cNvPr id="16" name="Shape 14"/>
          <p:cNvSpPr/>
          <p:nvPr/>
        </p:nvSpPr>
        <p:spPr>
          <a:xfrm>
            <a:off x="8732520" y="2459736"/>
            <a:ext cx="963778" cy="1020470"/>
          </a:xfrm>
          <a:prstGeom prst="line">
            <a:avLst/>
          </a:prstGeom>
          <a:noFill/>
          <a:ln w="44450">
            <a:solidFill>
              <a:srgbClr val="FF7A33"/>
            </a:solidFill>
            <a:prstDash val="solid"/>
          </a:ln>
        </p:spPr>
      </p:sp>
      <p:sp>
        <p:nvSpPr>
          <p:cNvPr id="17" name="Shape 15"/>
          <p:cNvSpPr/>
          <p:nvPr/>
        </p:nvSpPr>
        <p:spPr>
          <a:xfrm>
            <a:off x="9696298" y="3480206"/>
            <a:ext cx="963778" cy="793699"/>
          </a:xfrm>
          <a:prstGeom prst="line">
            <a:avLst/>
          </a:prstGeom>
          <a:noFill/>
          <a:ln w="44450">
            <a:solidFill>
              <a:srgbClr val="FF7A33"/>
            </a:solidFill>
            <a:prstDash val="solid"/>
          </a:ln>
        </p:spPr>
      </p:sp>
      <p:sp>
        <p:nvSpPr>
          <p:cNvPr id="18" name="Shape 16"/>
          <p:cNvSpPr/>
          <p:nvPr/>
        </p:nvSpPr>
        <p:spPr>
          <a:xfrm flipV="1">
            <a:off x="10660075" y="3480206"/>
            <a:ext cx="566928" cy="793699"/>
          </a:xfrm>
          <a:prstGeom prst="line">
            <a:avLst/>
          </a:prstGeom>
          <a:noFill/>
          <a:ln w="44450">
            <a:solidFill>
              <a:srgbClr val="FF7A33"/>
            </a:solidFill>
            <a:prstDash val="solid"/>
          </a:ln>
        </p:spPr>
      </p:sp>
      <p:sp>
        <p:nvSpPr>
          <p:cNvPr id="19" name="node A"/>
          <p:cNvSpPr/>
          <p:nvPr/>
        </p:nvSpPr>
        <p:spPr>
          <a:xfrm>
            <a:off x="7669987" y="3324758"/>
            <a:ext cx="310896" cy="310896"/>
          </a:xfrm>
          <a:prstGeom prst="ellipse">
            <a:avLst/>
          </a:prstGeom>
          <a:solidFill>
            <a:srgbClr val="0F1218"/>
          </a:solidFill>
          <a:ln w="38100">
            <a:solidFill>
              <a:srgbClr val="FF7A33"/>
            </a:solidFill>
            <a:prstDash val="solid"/>
          </a:ln>
        </p:spPr>
      </p:sp>
      <p:sp>
        <p:nvSpPr>
          <p:cNvPr id="20" name="node B"/>
          <p:cNvSpPr/>
          <p:nvPr/>
        </p:nvSpPr>
        <p:spPr>
          <a:xfrm>
            <a:off x="8641080" y="2368296"/>
            <a:ext cx="182880" cy="182880"/>
          </a:xfrm>
          <a:prstGeom prst="ellipse">
            <a:avLst/>
          </a:prstGeom>
          <a:solidFill>
            <a:srgbClr val="FF7A33"/>
          </a:solidFill>
          <a:ln w="19050">
            <a:solidFill>
              <a:srgbClr val="FF7A33"/>
            </a:solidFill>
            <a:prstDash val="solid"/>
          </a:ln>
        </p:spPr>
      </p:sp>
      <p:sp>
        <p:nvSpPr>
          <p:cNvPr id="21" name="node C"/>
          <p:cNvSpPr/>
          <p:nvPr/>
        </p:nvSpPr>
        <p:spPr>
          <a:xfrm>
            <a:off x="8641080" y="4409237"/>
            <a:ext cx="182880" cy="182880"/>
          </a:xfrm>
          <a:prstGeom prst="ellipse">
            <a:avLst/>
          </a:prstGeom>
          <a:solidFill>
            <a:srgbClr val="1B2029"/>
          </a:solidFill>
          <a:ln w="19050">
            <a:solidFill>
              <a:srgbClr val="3A4350"/>
            </a:solidFill>
            <a:prstDash val="solid"/>
          </a:ln>
        </p:spPr>
      </p:sp>
      <p:sp>
        <p:nvSpPr>
          <p:cNvPr id="22" name="node D"/>
          <p:cNvSpPr/>
          <p:nvPr/>
        </p:nvSpPr>
        <p:spPr>
          <a:xfrm>
            <a:off x="9604858" y="1858061"/>
            <a:ext cx="182880" cy="182880"/>
          </a:xfrm>
          <a:prstGeom prst="ellipse">
            <a:avLst/>
          </a:prstGeom>
          <a:solidFill>
            <a:srgbClr val="1B2029"/>
          </a:solidFill>
          <a:ln w="19050">
            <a:solidFill>
              <a:srgbClr val="3A4350"/>
            </a:solidFill>
            <a:prstDash val="solid"/>
          </a:ln>
        </p:spPr>
      </p:sp>
      <p:sp>
        <p:nvSpPr>
          <p:cNvPr id="23" name="node E"/>
          <p:cNvSpPr/>
          <p:nvPr/>
        </p:nvSpPr>
        <p:spPr>
          <a:xfrm>
            <a:off x="9604858" y="3388766"/>
            <a:ext cx="182880" cy="182880"/>
          </a:xfrm>
          <a:prstGeom prst="ellipse">
            <a:avLst/>
          </a:prstGeom>
          <a:solidFill>
            <a:srgbClr val="FF7A33"/>
          </a:solidFill>
          <a:ln w="19050">
            <a:solidFill>
              <a:srgbClr val="FF7A33"/>
            </a:solidFill>
            <a:prstDash val="solid"/>
          </a:ln>
        </p:spPr>
      </p:sp>
      <p:sp>
        <p:nvSpPr>
          <p:cNvPr id="24" name="node F"/>
          <p:cNvSpPr/>
          <p:nvPr/>
        </p:nvSpPr>
        <p:spPr>
          <a:xfrm>
            <a:off x="9604858" y="4919472"/>
            <a:ext cx="182880" cy="182880"/>
          </a:xfrm>
          <a:prstGeom prst="ellipse">
            <a:avLst/>
          </a:prstGeom>
          <a:solidFill>
            <a:srgbClr val="1B2029"/>
          </a:solidFill>
          <a:ln w="19050">
            <a:solidFill>
              <a:srgbClr val="3A4350"/>
            </a:solidFill>
            <a:prstDash val="solid"/>
          </a:ln>
        </p:spPr>
      </p:sp>
      <p:sp>
        <p:nvSpPr>
          <p:cNvPr id="25" name="node G"/>
          <p:cNvSpPr/>
          <p:nvPr/>
        </p:nvSpPr>
        <p:spPr>
          <a:xfrm>
            <a:off x="10568635" y="2595067"/>
            <a:ext cx="182880" cy="182880"/>
          </a:xfrm>
          <a:prstGeom prst="ellipse">
            <a:avLst/>
          </a:prstGeom>
          <a:solidFill>
            <a:srgbClr val="1B2029"/>
          </a:solidFill>
          <a:ln w="19050">
            <a:solidFill>
              <a:srgbClr val="3A4350"/>
            </a:solidFill>
            <a:prstDash val="solid"/>
          </a:ln>
        </p:spPr>
      </p:sp>
      <p:sp>
        <p:nvSpPr>
          <p:cNvPr id="26" name="node H"/>
          <p:cNvSpPr/>
          <p:nvPr/>
        </p:nvSpPr>
        <p:spPr>
          <a:xfrm>
            <a:off x="10568635" y="4182466"/>
            <a:ext cx="182880" cy="182880"/>
          </a:xfrm>
          <a:prstGeom prst="ellipse">
            <a:avLst/>
          </a:prstGeom>
          <a:solidFill>
            <a:srgbClr val="FF7A33"/>
          </a:solidFill>
          <a:ln w="19050">
            <a:solidFill>
              <a:srgbClr val="FF7A33"/>
            </a:solidFill>
            <a:prstDash val="solid"/>
          </a:ln>
        </p:spPr>
      </p:sp>
      <p:sp>
        <p:nvSpPr>
          <p:cNvPr id="27" name="node I"/>
          <p:cNvSpPr/>
          <p:nvPr/>
        </p:nvSpPr>
        <p:spPr>
          <a:xfrm>
            <a:off x="11071555" y="3324758"/>
            <a:ext cx="310896" cy="310896"/>
          </a:xfrm>
          <a:prstGeom prst="ellipse">
            <a:avLst/>
          </a:prstGeom>
          <a:solidFill>
            <a:srgbClr val="0F1218"/>
          </a:solidFill>
          <a:ln w="38100">
            <a:solidFill>
              <a:srgbClr val="7FAEFF"/>
            </a:solidFill>
            <a:prstDash val="solid"/>
          </a:ln>
        </p:spPr>
      </p:sp>
      <p:sp>
        <p:nvSpPr>
          <p:cNvPr id="28" name="Text 26"/>
          <p:cNvSpPr txBox="1"/>
          <p:nvPr/>
        </p:nvSpPr>
        <p:spPr>
          <a:xfrm>
            <a:off x="548640" y="640080"/>
            <a:ext cx="6400800" cy="320040"/>
          </a:xfrm>
          <a:prstGeom prst="rect">
            <a:avLst/>
          </a:prstGeom>
          <a:noFill/>
          <a:ln/>
        </p:spPr>
        <p:txBody>
          <a:bodyPr wrap="square" lIns="0" tIns="0" rIns="0" bIns="0" rtlCol="0" anchor="ctr"/>
          <a:lstStyle/>
          <a:p>
            <a:pPr indent="0" marL="0">
              <a:buNone/>
            </a:pPr>
            <a:r>
              <a:rPr lang="en-US" sz="1300" b="1" spc="300" kern="0" dirty="0">
                <a:solidFill>
                  <a:srgbClr val="FF7A33"/>
                </a:solidFill>
                <a:latin typeface="Consolas" pitchFamily="34" charset="0"/>
                <a:ea typeface="Consolas" pitchFamily="34" charset="-122"/>
                <a:cs typeface="Consolas" pitchFamily="34" charset="-120"/>
              </a:rPr>
              <a:t>ZENTRAL HACK 2026 · AGENT HARNESS</a:t>
            </a:r>
            <a:endParaRPr lang="en-US" sz="1300" dirty="0"/>
          </a:p>
        </p:txBody>
      </p:sp>
      <p:sp>
        <p:nvSpPr>
          <p:cNvPr id="29" name="title"/>
          <p:cNvSpPr txBox="1"/>
          <p:nvPr/>
        </p:nvSpPr>
        <p:spPr>
          <a:xfrm>
            <a:off x="548640" y="1828800"/>
            <a:ext cx="6583680" cy="2194560"/>
          </a:xfrm>
          <a:prstGeom prst="rect">
            <a:avLst/>
          </a:prstGeom>
          <a:noFill/>
          <a:ln/>
        </p:spPr>
        <p:txBody>
          <a:bodyPr wrap="square" lIns="0" tIns="0" rIns="0" bIns="0" rtlCol="0" anchor="t"/>
          <a:lstStyle/>
          <a:p>
            <a:pPr indent="0" marL="0">
              <a:lnSpc>
                <a:spcPct val="95000"/>
              </a:lnSpc>
              <a:buNone/>
            </a:pPr>
            <a:r>
              <a:rPr lang="en-US" sz="6000" b="1" dirty="0">
                <a:solidFill>
                  <a:srgbClr val="F3F0E8"/>
                </a:solidFill>
                <a:latin typeface="Century Gothic" pitchFamily="34" charset="0"/>
                <a:ea typeface="Century Gothic" pitchFamily="34" charset="-122"/>
                <a:cs typeface="Century Gothic" pitchFamily="34" charset="-120"/>
              </a:rPr>
              <a:t>Spec in.</a:t>
            </a:r>
            <a:endParaRPr lang="en-US" sz="6000" dirty="0"/>
          </a:p>
          <a:p>
            <a:pPr indent="0" marL="0">
              <a:lnSpc>
                <a:spcPct val="95000"/>
              </a:lnSpc>
              <a:buNone/>
            </a:pPr>
            <a:r>
              <a:rPr lang="en-US" sz="6000" b="1" dirty="0">
                <a:solidFill>
                  <a:srgbClr val="F3F0E8"/>
                </a:solidFill>
                <a:latin typeface="Century Gothic" pitchFamily="34" charset="0"/>
                <a:ea typeface="Century Gothic" pitchFamily="34" charset="-122"/>
                <a:cs typeface="Century Gothic" pitchFamily="34" charset="-120"/>
              </a:rPr>
              <a:t>Strategy out.</a:t>
            </a:r>
            <a:endParaRPr lang="en-US" sz="6000" dirty="0"/>
          </a:p>
        </p:txBody>
      </p:sp>
      <p:sp>
        <p:nvSpPr>
          <p:cNvPr id="30" name="Text 28"/>
          <p:cNvSpPr txBox="1"/>
          <p:nvPr/>
        </p:nvSpPr>
        <p:spPr>
          <a:xfrm>
            <a:off x="548640" y="4160520"/>
            <a:ext cx="6035040" cy="914400"/>
          </a:xfrm>
          <a:prstGeom prst="rect">
            <a:avLst/>
          </a:prstGeom>
          <a:noFill/>
          <a:ln/>
        </p:spPr>
        <p:txBody>
          <a:bodyPr wrap="square" lIns="0" tIns="0" rIns="0" bIns="0" rtlCol="0" anchor="t"/>
          <a:lstStyle/>
          <a:p>
            <a:pPr indent="0" marL="0">
              <a:buNone/>
            </a:pPr>
            <a:r>
              <a:rPr lang="en-US" sz="2000" dirty="0">
                <a:solidFill>
                  <a:srgbClr val="AEB6C2"/>
                </a:solidFill>
                <a:latin typeface="Calibri" pitchFamily="34" charset="0"/>
                <a:ea typeface="Calibri" pitchFamily="34" charset="-122"/>
                <a:cs typeface="Calibri" pitchFamily="34" charset="-120"/>
              </a:rPr>
              <a:t>An agent harness that writes, verifies and evolves game strategies, for games it has never seen.</a:t>
            </a:r>
            <a:endParaRPr lang="en-US" sz="2000" dirty="0"/>
          </a:p>
        </p:txBody>
      </p:sp>
      <p:sp>
        <p:nvSpPr>
          <p:cNvPr id="31" name="Text 29"/>
          <p:cNvSpPr txBox="1"/>
          <p:nvPr/>
        </p:nvSpPr>
        <p:spPr>
          <a:xfrm>
            <a:off x="548640" y="6172200"/>
            <a:ext cx="5486400" cy="320040"/>
          </a:xfrm>
          <a:prstGeom prst="rect">
            <a:avLst/>
          </a:prstGeom>
          <a:noFill/>
          <a:ln/>
        </p:spPr>
        <p:txBody>
          <a:bodyPr wrap="square" lIns="0" tIns="0" rIns="0" bIns="0" rtlCol="0" anchor="ctr"/>
          <a:lstStyle/>
          <a:p>
            <a:pPr indent="0" marL="0">
              <a:buNone/>
            </a:pPr>
            <a:r>
              <a:rPr lang="en-US" sz="1400" dirty="0">
                <a:solidFill>
                  <a:srgbClr val="7D8694"/>
                </a:solidFill>
                <a:latin typeface="Calibri" pitchFamily="34" charset="0"/>
                <a:ea typeface="Calibri" pitchFamily="34" charset="-122"/>
                <a:cs typeface="Calibri" pitchFamily="34" charset="-120"/>
              </a:rPr>
              <a:t>[Team name] · [names]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B44A12"/>
                </a:solidFill>
                <a:latin typeface="Consolas" pitchFamily="34" charset="0"/>
                <a:ea typeface="Consolas" pitchFamily="34" charset="-122"/>
                <a:cs typeface="Consolas" pitchFamily="34" charset="-120"/>
              </a:rPr>
              <a:t>THE TASK · THE INSIGHT</a:t>
            </a:r>
            <a:endParaRPr lang="en-US" sz="1200" dirty="0"/>
          </a:p>
        </p:txBody>
      </p:sp>
      <p:sp>
        <p:nvSpPr>
          <p:cNvPr id="3" name="Text 0"/>
          <p:cNvSpPr/>
          <p:nvPr>
            <p:ph idx="100" type="title" hasCustomPrompt="1"/>
          </p:nvPr>
        </p:nvSpPr>
        <p:spPr>
          <a:xfrm>
            <a:off x="548640" y="713232"/>
            <a:ext cx="11094415" cy="822960"/>
          </a:xfrm>
          <a:prstGeom prst="rect">
            <a:avLst/>
          </a:prstGeom>
          <a:noFill/>
          <a:ln/>
        </p:spPr>
        <p:txBody>
          <a:bodyPr wrap="square" lIns="0" tIns="0" rIns="0" bIns="0" rtlCol="0" anchor="t"/>
          <a:lstStyle/>
          <a:p>
            <a:pPr algn="l" indent="0" marL="0">
              <a:buNone/>
            </a:pPr>
            <a:r>
              <a:rPr lang="en-US" sz="3400" b="1" dirty="0">
                <a:solidFill>
                  <a:srgbClr val="14171C"/>
                </a:solidFill>
                <a:latin typeface="Century Gothic" pitchFamily="34" charset="0"/>
                <a:ea typeface="Century Gothic" pitchFamily="34" charset="-122"/>
                <a:cs typeface="Century Gothic" pitchFamily="34" charset="-120"/>
              </a:rPr>
              <a:t>An unseen game, a fixed budget, only wins count</a:t>
            </a:r>
            <a:endParaRPr lang="en-US" sz="3400" dirty="0"/>
          </a:p>
        </p:txBody>
      </p:sp>
      <p:sp>
        <p:nvSpPr>
          <p:cNvPr id="4" name="card task"/>
          <p:cNvSpPr/>
          <p:nvPr/>
        </p:nvSpPr>
        <p:spPr>
          <a:xfrm>
            <a:off x="548640" y="1874520"/>
            <a:ext cx="3520440" cy="3886200"/>
          </a:xfrm>
          <a:prstGeom prst="roundRect">
            <a:avLst>
              <a:gd name="adj" fmla="val 3117"/>
            </a:avLst>
          </a:prstGeom>
          <a:solidFill>
            <a:srgbClr val="FFFFFF"/>
          </a:solidFill>
          <a:ln w="9525">
            <a:solidFill>
              <a:srgbClr val="D9DDE3"/>
            </a:solidFill>
            <a:prstDash val="solid"/>
          </a:ln>
          <a:effectLst>
            <a:outerShdw sx="100000" sy="100000" kx="0" ky="0" algn="bl" rotWithShape="0" blurRad="101600" dist="25400" dir="5400000">
              <a:srgbClr val="000000">
                <a:alpha val="8000"/>
              </a:srgbClr>
            </a:outerShdw>
          </a:effectLst>
        </p:spPr>
      </p:sp>
      <p:sp>
        <p:nvSpPr>
          <p:cNvPr id="5" name="Text 3"/>
          <p:cNvSpPr txBox="1"/>
          <p:nvPr/>
        </p:nvSpPr>
        <p:spPr>
          <a:xfrm>
            <a:off x="868680" y="2148840"/>
            <a:ext cx="2880360" cy="365760"/>
          </a:xfrm>
          <a:prstGeom prst="rect">
            <a:avLst/>
          </a:prstGeom>
          <a:noFill/>
          <a:ln/>
        </p:spPr>
        <p:txBody>
          <a:bodyPr wrap="square" lIns="0" tIns="0" rIns="0" bIns="0" rtlCol="0" anchor="ctr"/>
          <a:lstStyle/>
          <a:p>
            <a:pPr indent="0" marL="0">
              <a:buNone/>
            </a:pPr>
            <a:r>
              <a:rPr lang="en-US" sz="2000" b="1" dirty="0">
                <a:solidFill>
                  <a:srgbClr val="14171C"/>
                </a:solidFill>
                <a:latin typeface="Century Gothic" pitchFamily="34" charset="0"/>
                <a:ea typeface="Century Gothic" pitchFamily="34" charset="-122"/>
                <a:cs typeface="Century Gothic" pitchFamily="34" charset="-120"/>
              </a:rPr>
              <a:t>The task</a:t>
            </a:r>
            <a:endParaRPr lang="en-US" sz="2000" dirty="0"/>
          </a:p>
        </p:txBody>
      </p:sp>
      <p:sp>
        <p:nvSpPr>
          <p:cNvPr id="6" name="Text 4"/>
          <p:cNvSpPr txBox="1"/>
          <p:nvPr/>
        </p:nvSpPr>
        <p:spPr>
          <a:xfrm>
            <a:off x="868680" y="2606040"/>
            <a:ext cx="2880360" cy="868680"/>
          </a:xfrm>
          <a:prstGeom prst="rect">
            <a:avLst/>
          </a:prstGeom>
          <a:noFill/>
          <a:ln/>
        </p:spPr>
        <p:txBody>
          <a:bodyPr wrap="square" lIns="0" tIns="0" rIns="0" bIns="0" rtlCol="0" anchor="t"/>
          <a:lstStyle/>
          <a:p>
            <a:pPr indent="0" marL="0">
              <a:buNone/>
            </a:pPr>
            <a:r>
              <a:rPr lang="en-US" sz="1600" dirty="0">
                <a:solidFill>
                  <a:srgbClr val="4A5260"/>
                </a:solidFill>
                <a:latin typeface="Calibri" pitchFamily="34" charset="0"/>
                <a:ea typeface="Calibri" pitchFamily="34" charset="-122"/>
                <a:cs typeface="Calibri" pitchFamily="34" charset="-120"/>
              </a:rPr>
              <a:t>Read a game’s written spec, ship a strategy that wins. Unattended, in a sandbox.</a:t>
            </a:r>
            <a:endParaRPr lang="en-US" sz="1600" dirty="0"/>
          </a:p>
        </p:txBody>
      </p:sp>
      <p:sp>
        <p:nvSpPr>
          <p:cNvPr id="7" name="Text 5"/>
          <p:cNvSpPr txBox="1"/>
          <p:nvPr/>
        </p:nvSpPr>
        <p:spPr>
          <a:xfrm>
            <a:off x="868680" y="3657600"/>
            <a:ext cx="411480" cy="365760"/>
          </a:xfrm>
          <a:prstGeom prst="rect">
            <a:avLst/>
          </a:prstGeom>
          <a:noFill/>
          <a:ln/>
        </p:spPr>
        <p:txBody>
          <a:bodyPr wrap="square" lIns="0" tIns="0" rIns="0" bIns="0" rtlCol="0" anchor="ctr"/>
          <a:lstStyle/>
          <a:p>
            <a:pPr indent="0" marL="0">
              <a:buNone/>
            </a:pPr>
            <a:r>
              <a:rPr lang="en-US" sz="1600" b="1" dirty="0">
                <a:solidFill>
                  <a:srgbClr val="B44A12"/>
                </a:solidFill>
                <a:latin typeface="Consolas" pitchFamily="34" charset="0"/>
                <a:ea typeface="Consolas" pitchFamily="34" charset="-122"/>
                <a:cs typeface="Consolas" pitchFamily="34" charset="-120"/>
              </a:rPr>
              <a:t>A</a:t>
            </a:r>
            <a:endParaRPr lang="en-US" sz="1600" dirty="0"/>
          </a:p>
        </p:txBody>
      </p:sp>
      <p:sp>
        <p:nvSpPr>
          <p:cNvPr id="8" name="Text 6"/>
          <p:cNvSpPr txBox="1"/>
          <p:nvPr/>
        </p:nvSpPr>
        <p:spPr>
          <a:xfrm>
            <a:off x="1325880" y="3657600"/>
            <a:ext cx="2423160" cy="365760"/>
          </a:xfrm>
          <a:prstGeom prst="rect">
            <a:avLst/>
          </a:prstGeom>
          <a:noFill/>
          <a:ln/>
        </p:spPr>
        <p:txBody>
          <a:bodyPr wrap="square" lIns="0" tIns="0" rIns="0" bIns="0" rtlCol="0" anchor="ctr"/>
          <a:lstStyle/>
          <a:p>
            <a:pPr indent="0" marL="0">
              <a:buNone/>
            </a:pPr>
            <a:r>
              <a:rPr lang="en-US" sz="1800" b="1" dirty="0">
                <a:solidFill>
                  <a:srgbClr val="14171C"/>
                </a:solidFill>
                <a:latin typeface="Calibri" pitchFamily="34" charset="0"/>
                <a:ea typeface="Calibri" pitchFamily="34" charset="-122"/>
                <a:cs typeface="Calibri" pitchFamily="34" charset="-120"/>
              </a:rPr>
              <a:t>$0.03  ·  3 min</a:t>
            </a:r>
            <a:endParaRPr lang="en-US" sz="1800" dirty="0"/>
          </a:p>
        </p:txBody>
      </p:sp>
      <p:sp>
        <p:nvSpPr>
          <p:cNvPr id="9" name="Text 7"/>
          <p:cNvSpPr txBox="1"/>
          <p:nvPr/>
        </p:nvSpPr>
        <p:spPr>
          <a:xfrm>
            <a:off x="868680" y="4133088"/>
            <a:ext cx="411480" cy="365760"/>
          </a:xfrm>
          <a:prstGeom prst="rect">
            <a:avLst/>
          </a:prstGeom>
          <a:noFill/>
          <a:ln/>
        </p:spPr>
        <p:txBody>
          <a:bodyPr wrap="square" lIns="0" tIns="0" rIns="0" bIns="0" rtlCol="0" anchor="ctr"/>
          <a:lstStyle/>
          <a:p>
            <a:pPr indent="0" marL="0">
              <a:buNone/>
            </a:pPr>
            <a:r>
              <a:rPr lang="en-US" sz="1600" b="1" dirty="0">
                <a:solidFill>
                  <a:srgbClr val="B44A12"/>
                </a:solidFill>
                <a:latin typeface="Consolas" pitchFamily="34" charset="0"/>
                <a:ea typeface="Consolas" pitchFamily="34" charset="-122"/>
                <a:cs typeface="Consolas" pitchFamily="34" charset="-120"/>
              </a:rPr>
              <a:t>B</a:t>
            </a:r>
            <a:endParaRPr lang="en-US" sz="1600" dirty="0"/>
          </a:p>
        </p:txBody>
      </p:sp>
      <p:sp>
        <p:nvSpPr>
          <p:cNvPr id="10" name="Text 8"/>
          <p:cNvSpPr txBox="1"/>
          <p:nvPr/>
        </p:nvSpPr>
        <p:spPr>
          <a:xfrm>
            <a:off x="1325880" y="4133088"/>
            <a:ext cx="2423160" cy="365760"/>
          </a:xfrm>
          <a:prstGeom prst="rect">
            <a:avLst/>
          </a:prstGeom>
          <a:noFill/>
          <a:ln/>
        </p:spPr>
        <p:txBody>
          <a:bodyPr wrap="square" lIns="0" tIns="0" rIns="0" bIns="0" rtlCol="0" anchor="ctr"/>
          <a:lstStyle/>
          <a:p>
            <a:pPr indent="0" marL="0">
              <a:buNone/>
            </a:pPr>
            <a:r>
              <a:rPr lang="en-US" sz="1800" b="1" dirty="0">
                <a:solidFill>
                  <a:srgbClr val="14171C"/>
                </a:solidFill>
                <a:latin typeface="Calibri" pitchFamily="34" charset="0"/>
                <a:ea typeface="Calibri" pitchFamily="34" charset="-122"/>
                <a:cs typeface="Calibri" pitchFamily="34" charset="-120"/>
              </a:rPr>
              <a:t>$0.50  ·  10 min</a:t>
            </a:r>
            <a:endParaRPr lang="en-US" sz="1800" dirty="0"/>
          </a:p>
        </p:txBody>
      </p:sp>
      <p:sp>
        <p:nvSpPr>
          <p:cNvPr id="11" name="Text 9"/>
          <p:cNvSpPr txBox="1"/>
          <p:nvPr/>
        </p:nvSpPr>
        <p:spPr>
          <a:xfrm>
            <a:off x="868680" y="4608576"/>
            <a:ext cx="411480" cy="365760"/>
          </a:xfrm>
          <a:prstGeom prst="rect">
            <a:avLst/>
          </a:prstGeom>
          <a:noFill/>
          <a:ln/>
        </p:spPr>
        <p:txBody>
          <a:bodyPr wrap="square" lIns="0" tIns="0" rIns="0" bIns="0" rtlCol="0" anchor="ctr"/>
          <a:lstStyle/>
          <a:p>
            <a:pPr indent="0" marL="0">
              <a:buNone/>
            </a:pPr>
            <a:r>
              <a:rPr lang="en-US" sz="1600" b="1" dirty="0">
                <a:solidFill>
                  <a:srgbClr val="B44A12"/>
                </a:solidFill>
                <a:latin typeface="Consolas" pitchFamily="34" charset="0"/>
                <a:ea typeface="Consolas" pitchFamily="34" charset="-122"/>
                <a:cs typeface="Consolas" pitchFamily="34" charset="-120"/>
              </a:rPr>
              <a:t>C</a:t>
            </a:r>
            <a:endParaRPr lang="en-US" sz="1600" dirty="0"/>
          </a:p>
        </p:txBody>
      </p:sp>
      <p:sp>
        <p:nvSpPr>
          <p:cNvPr id="12" name="Text 10"/>
          <p:cNvSpPr txBox="1"/>
          <p:nvPr/>
        </p:nvSpPr>
        <p:spPr>
          <a:xfrm>
            <a:off x="1325880" y="4608576"/>
            <a:ext cx="2423160" cy="365760"/>
          </a:xfrm>
          <a:prstGeom prst="rect">
            <a:avLst/>
          </a:prstGeom>
          <a:noFill/>
          <a:ln/>
        </p:spPr>
        <p:txBody>
          <a:bodyPr wrap="square" lIns="0" tIns="0" rIns="0" bIns="0" rtlCol="0" anchor="ctr"/>
          <a:lstStyle/>
          <a:p>
            <a:pPr indent="0" marL="0">
              <a:buNone/>
            </a:pPr>
            <a:r>
              <a:rPr lang="en-US" sz="1800" b="1" dirty="0">
                <a:solidFill>
                  <a:srgbClr val="14171C"/>
                </a:solidFill>
                <a:latin typeface="Calibri" pitchFamily="34" charset="0"/>
                <a:ea typeface="Calibri" pitchFamily="34" charset="-122"/>
                <a:cs typeface="Calibri" pitchFamily="34" charset="-120"/>
              </a:rPr>
              <a:t>$10  ·  30 min</a:t>
            </a:r>
            <a:endParaRPr lang="en-US" sz="1800" dirty="0"/>
          </a:p>
        </p:txBody>
      </p:sp>
      <p:sp>
        <p:nvSpPr>
          <p:cNvPr id="13" name="Text 11"/>
          <p:cNvSpPr txBox="1"/>
          <p:nvPr/>
        </p:nvSpPr>
        <p:spPr>
          <a:xfrm>
            <a:off x="868680" y="5120640"/>
            <a:ext cx="2880360" cy="457200"/>
          </a:xfrm>
          <a:prstGeom prst="rect">
            <a:avLst/>
          </a:prstGeom>
          <a:noFill/>
          <a:ln/>
        </p:spPr>
        <p:txBody>
          <a:bodyPr wrap="square" lIns="0" tIns="0" rIns="0" bIns="0" rtlCol="0" anchor="t"/>
          <a:lstStyle/>
          <a:p>
            <a:pPr indent="0" marL="0">
              <a:buNone/>
            </a:pPr>
            <a:r>
              <a:rPr lang="en-US" sz="1400" dirty="0">
                <a:solidFill>
                  <a:srgbClr val="4A5260"/>
                </a:solidFill>
                <a:latin typeface="Calibri" pitchFamily="34" charset="0"/>
                <a:ea typeface="Calibri" pitchFamily="34" charset="-122"/>
                <a:cs typeface="Calibri" pitchFamily="34" charset="-120"/>
              </a:rPr>
              <a:t>Scored on two unseen games: win +1, draw 0, loss −1.</a:t>
            </a:r>
            <a:endParaRPr lang="en-US" sz="1400" dirty="0"/>
          </a:p>
        </p:txBody>
      </p:sp>
      <p:sp>
        <p:nvSpPr>
          <p:cNvPr id="14" name="card research"/>
          <p:cNvSpPr/>
          <p:nvPr/>
        </p:nvSpPr>
        <p:spPr>
          <a:xfrm>
            <a:off x="4343400" y="1874520"/>
            <a:ext cx="3520440" cy="3886200"/>
          </a:xfrm>
          <a:prstGeom prst="roundRect">
            <a:avLst>
              <a:gd name="adj" fmla="val 3117"/>
            </a:avLst>
          </a:prstGeom>
          <a:solidFill>
            <a:srgbClr val="FFFFFF"/>
          </a:solidFill>
          <a:ln w="9525">
            <a:solidFill>
              <a:srgbClr val="D9DDE3"/>
            </a:solidFill>
            <a:prstDash val="solid"/>
          </a:ln>
          <a:effectLst>
            <a:outerShdw sx="100000" sy="100000" kx="0" ky="0" algn="bl" rotWithShape="0" blurRad="101600" dist="25400" dir="5400000">
              <a:srgbClr val="000000">
                <a:alpha val="8000"/>
              </a:srgbClr>
            </a:outerShdw>
          </a:effectLst>
        </p:spPr>
      </p:sp>
      <p:sp>
        <p:nvSpPr>
          <p:cNvPr id="15" name="Text 13"/>
          <p:cNvSpPr txBox="1"/>
          <p:nvPr/>
        </p:nvSpPr>
        <p:spPr>
          <a:xfrm>
            <a:off x="4663440" y="2148840"/>
            <a:ext cx="2880360" cy="365760"/>
          </a:xfrm>
          <a:prstGeom prst="rect">
            <a:avLst/>
          </a:prstGeom>
          <a:noFill/>
          <a:ln/>
        </p:spPr>
        <p:txBody>
          <a:bodyPr wrap="square" lIns="0" tIns="0" rIns="0" bIns="0" rtlCol="0" anchor="ctr"/>
          <a:lstStyle/>
          <a:p>
            <a:pPr indent="0" marL="0">
              <a:buNone/>
            </a:pPr>
            <a:r>
              <a:rPr lang="en-US" sz="2000" b="1" dirty="0">
                <a:solidFill>
                  <a:srgbClr val="14171C"/>
                </a:solidFill>
                <a:latin typeface="Century Gothic" pitchFamily="34" charset="0"/>
                <a:ea typeface="Century Gothic" pitchFamily="34" charset="-122"/>
                <a:cs typeface="Century Gothic" pitchFamily="34" charset="-120"/>
              </a:rPr>
              <a:t>What research says</a:t>
            </a:r>
            <a:endParaRPr lang="en-US" sz="2000" dirty="0"/>
          </a:p>
        </p:txBody>
      </p:sp>
      <p:sp>
        <p:nvSpPr>
          <p:cNvPr id="16" name="Text 14"/>
          <p:cNvSpPr txBox="1"/>
          <p:nvPr/>
        </p:nvSpPr>
        <p:spPr>
          <a:xfrm>
            <a:off x="4663440" y="2743200"/>
            <a:ext cx="2880360" cy="822960"/>
          </a:xfrm>
          <a:prstGeom prst="rect">
            <a:avLst/>
          </a:prstGeom>
          <a:noFill/>
          <a:ln/>
        </p:spPr>
        <p:txBody>
          <a:bodyPr wrap="square" lIns="0" tIns="0" rIns="0" bIns="0" rtlCol="0" anchor="ctr"/>
          <a:lstStyle/>
          <a:p>
            <a:pPr indent="0" marL="0">
              <a:buNone/>
            </a:pPr>
            <a:r>
              <a:rPr lang="en-US" sz="4400" b="1" dirty="0">
                <a:solidFill>
                  <a:srgbClr val="2F5FC4"/>
                </a:solidFill>
                <a:latin typeface="Century Gothic" pitchFamily="34" charset="0"/>
                <a:ea typeface="Century Gothic" pitchFamily="34" charset="-122"/>
                <a:cs typeface="Century Gothic" pitchFamily="34" charset="-120"/>
              </a:rPr>
              <a:t>85%</a:t>
            </a:r>
            <a:pPr indent="0" marL="0">
              <a:buNone/>
            </a:pPr>
            <a:r>
              <a:rPr lang="en-US" sz="2400" b="1" dirty="0">
                <a:solidFill>
                  <a:srgbClr val="4A5260"/>
                </a:solidFill>
                <a:latin typeface="Century Gothic" pitchFamily="34" charset="0"/>
                <a:ea typeface="Century Gothic" pitchFamily="34" charset="-122"/>
                <a:cs typeface="Century Gothic" pitchFamily="34" charset="-120"/>
              </a:rPr>
              <a:t>  vs  </a:t>
            </a:r>
            <a:pPr indent="0" marL="0">
              <a:buNone/>
            </a:pPr>
            <a:r>
              <a:rPr lang="en-US" sz="4400" b="1" dirty="0">
                <a:solidFill>
                  <a:srgbClr val="9AA3B2"/>
                </a:solidFill>
                <a:latin typeface="Century Gothic" pitchFamily="34" charset="0"/>
                <a:ea typeface="Century Gothic" pitchFamily="34" charset="-122"/>
                <a:cs typeface="Century Gothic" pitchFamily="34" charset="-120"/>
              </a:rPr>
              <a:t>30%</a:t>
            </a:r>
            <a:endParaRPr lang="en-US" sz="4400" dirty="0"/>
          </a:p>
        </p:txBody>
      </p:sp>
      <p:sp>
        <p:nvSpPr>
          <p:cNvPr id="17" name="Text 15"/>
          <p:cNvSpPr txBox="1"/>
          <p:nvPr/>
        </p:nvSpPr>
        <p:spPr>
          <a:xfrm>
            <a:off x="4663440" y="3703320"/>
            <a:ext cx="2880360" cy="1188720"/>
          </a:xfrm>
          <a:prstGeom prst="rect">
            <a:avLst/>
          </a:prstGeom>
          <a:noFill/>
          <a:ln/>
        </p:spPr>
        <p:txBody>
          <a:bodyPr wrap="square" lIns="0" tIns="0" rIns="0" bIns="0" rtlCol="0" anchor="t"/>
          <a:lstStyle/>
          <a:p>
            <a:pPr indent="0" marL="0">
              <a:buNone/>
            </a:pPr>
            <a:r>
              <a:rPr lang="en-US" sz="1600" dirty="0">
                <a:solidFill>
                  <a:srgbClr val="4A5260"/>
                </a:solidFill>
                <a:latin typeface="Calibri" pitchFamily="34" charset="0"/>
                <a:ea typeface="Calibri" pitchFamily="34" charset="-122"/>
                <a:cs typeface="Calibri" pitchFamily="34" charset="-120"/>
              </a:rPr>
              <a:t>Win rate when the LLM writes a simulator plus search code, versus the LLM playing move by move.</a:t>
            </a:r>
            <a:endParaRPr lang="en-US" sz="1600" dirty="0"/>
          </a:p>
        </p:txBody>
      </p:sp>
      <p:sp>
        <p:nvSpPr>
          <p:cNvPr id="18" name="Text 16"/>
          <p:cNvSpPr txBox="1"/>
          <p:nvPr/>
        </p:nvSpPr>
        <p:spPr>
          <a:xfrm>
            <a:off x="4663440" y="5120640"/>
            <a:ext cx="2880360" cy="457200"/>
          </a:xfrm>
          <a:prstGeom prst="rect">
            <a:avLst/>
          </a:prstGeom>
          <a:noFill/>
          <a:ln/>
        </p:spPr>
        <p:txBody>
          <a:bodyPr wrap="square" lIns="0" tIns="0" rIns="0" bIns="0" rtlCol="0" anchor="t"/>
          <a:lstStyle/>
          <a:p>
            <a:pPr indent="0" marL="0">
              <a:buNone/>
            </a:pPr>
            <a:r>
              <a:rPr lang="en-US" sz="1400" i="1" dirty="0">
                <a:solidFill>
                  <a:srgbClr val="4A5260"/>
                </a:solidFill>
                <a:latin typeface="Calibri" pitchFamily="34" charset="0"/>
                <a:ea typeface="Calibri" pitchFamily="34" charset="-122"/>
                <a:cs typeface="Calibri" pitchFamily="34" charset="-120"/>
              </a:rPr>
              <a:t>Code World Models, Google DeepMind</a:t>
            </a:r>
            <a:endParaRPr lang="en-US" sz="1400" dirty="0"/>
          </a:p>
        </p:txBody>
      </p:sp>
      <p:sp>
        <p:nvSpPr>
          <p:cNvPr id="19" name="card insight"/>
          <p:cNvSpPr/>
          <p:nvPr/>
        </p:nvSpPr>
        <p:spPr>
          <a:xfrm>
            <a:off x="8138160" y="1874520"/>
            <a:ext cx="3520440" cy="3886200"/>
          </a:xfrm>
          <a:prstGeom prst="roundRect">
            <a:avLst>
              <a:gd name="adj" fmla="val 3117"/>
            </a:avLst>
          </a:prstGeom>
          <a:solidFill>
            <a:srgbClr val="0F1218"/>
          </a:solidFill>
          <a:ln w="9525">
            <a:solidFill>
              <a:srgbClr val="0F1218"/>
            </a:solidFill>
            <a:prstDash val="solid"/>
          </a:ln>
          <a:effectLst>
            <a:outerShdw sx="100000" sy="100000" kx="0" ky="0" algn="bl" rotWithShape="0" blurRad="101600" dist="25400" dir="5400000">
              <a:srgbClr val="000000">
                <a:alpha val="8000"/>
              </a:srgbClr>
            </a:outerShdw>
          </a:effectLst>
        </p:spPr>
      </p:sp>
      <p:sp>
        <p:nvSpPr>
          <p:cNvPr id="20" name="Text 18"/>
          <p:cNvSpPr txBox="1"/>
          <p:nvPr/>
        </p:nvSpPr>
        <p:spPr>
          <a:xfrm>
            <a:off x="8458200" y="2148840"/>
            <a:ext cx="2880360" cy="365760"/>
          </a:xfrm>
          <a:prstGeom prst="rect">
            <a:avLst/>
          </a:prstGeom>
          <a:noFill/>
          <a:ln/>
        </p:spPr>
        <p:txBody>
          <a:bodyPr wrap="square" lIns="0" tIns="0" rIns="0" bIns="0" rtlCol="0" anchor="ctr"/>
          <a:lstStyle/>
          <a:p>
            <a:pPr indent="0" marL="0">
              <a:buNone/>
            </a:pPr>
            <a:r>
              <a:rPr lang="en-US" sz="2000" b="1" dirty="0">
                <a:solidFill>
                  <a:srgbClr val="FF7A33"/>
                </a:solidFill>
                <a:latin typeface="Century Gothic" pitchFamily="34" charset="0"/>
                <a:ea typeface="Century Gothic" pitchFamily="34" charset="-122"/>
                <a:cs typeface="Century Gothic" pitchFamily="34" charset="-120"/>
              </a:rPr>
              <a:t>Our insight</a:t>
            </a:r>
            <a:endParaRPr lang="en-US" sz="2000" dirty="0"/>
          </a:p>
        </p:txBody>
      </p:sp>
      <p:sp>
        <p:nvSpPr>
          <p:cNvPr id="21" name="Text 19"/>
          <p:cNvSpPr txBox="1"/>
          <p:nvPr/>
        </p:nvSpPr>
        <p:spPr>
          <a:xfrm>
            <a:off x="8458200" y="2697480"/>
            <a:ext cx="2880360" cy="1463040"/>
          </a:xfrm>
          <a:prstGeom prst="rect">
            <a:avLst/>
          </a:prstGeom>
          <a:noFill/>
          <a:ln/>
        </p:spPr>
        <p:txBody>
          <a:bodyPr wrap="square" lIns="0" tIns="0" rIns="0" bIns="0" rtlCol="0" anchor="t"/>
          <a:lstStyle/>
          <a:p>
            <a:pPr indent="0" marL="0">
              <a:buNone/>
            </a:pPr>
            <a:r>
              <a:rPr lang="en-US" sz="2600" b="1" dirty="0">
                <a:solidFill>
                  <a:srgbClr val="F3F0E8"/>
                </a:solidFill>
                <a:latin typeface="Century Gothic" pitchFamily="34" charset="0"/>
                <a:ea typeface="Century Gothic" pitchFamily="34" charset="-122"/>
                <a:cs typeface="Century Gothic" pitchFamily="34" charset="-120"/>
              </a:rPr>
              <a:t>Make the LLM the programmer, not the player.</a:t>
            </a:r>
            <a:endParaRPr lang="en-US" sz="2600" dirty="0"/>
          </a:p>
        </p:txBody>
      </p:sp>
      <p:sp>
        <p:nvSpPr>
          <p:cNvPr id="22" name="Text 20"/>
          <p:cNvSpPr txBox="1"/>
          <p:nvPr/>
        </p:nvSpPr>
        <p:spPr>
          <a:xfrm>
            <a:off x="8458200" y="4389120"/>
            <a:ext cx="2880360" cy="914400"/>
          </a:xfrm>
          <a:prstGeom prst="rect">
            <a:avLst/>
          </a:prstGeom>
          <a:noFill/>
          <a:ln/>
        </p:spPr>
        <p:txBody>
          <a:bodyPr wrap="square" lIns="0" tIns="0" rIns="0" bIns="0" rtlCol="0" anchor="t"/>
          <a:lstStyle/>
          <a:p>
            <a:pPr indent="0" marL="0">
              <a:buNone/>
            </a:pPr>
            <a:r>
              <a:rPr lang="en-US" sz="1800" dirty="0">
                <a:solidFill>
                  <a:srgbClr val="AEB6C2"/>
                </a:solidFill>
                <a:latin typeface="Calibri" pitchFamily="34" charset="0"/>
                <a:ea typeface="Calibri" pitchFamily="34" charset="-122"/>
                <a:cs typeface="Calibri" pitchFamily="34" charset="-120"/>
              </a:rPr>
              <a:t>And never trust its code before it is verified.</a:t>
            </a:r>
            <a:endParaRPr lang="en-US" sz="1800" dirty="0"/>
          </a:p>
        </p:txBody>
      </p:sp>
      <p:sp>
        <p:nvSpPr>
          <p:cNvPr id="23" name="Text 21"/>
          <p:cNvSpPr txBox="1"/>
          <p:nvPr/>
        </p:nvSpPr>
        <p:spPr>
          <a:xfrm>
            <a:off x="548640" y="6327648"/>
            <a:ext cx="9601200" cy="292608"/>
          </a:xfrm>
          <a:prstGeom prst="rect">
            <a:avLst/>
          </a:prstGeom>
          <a:noFill/>
          <a:ln/>
        </p:spPr>
        <p:txBody>
          <a:bodyPr wrap="square" lIns="0" tIns="0" rIns="0" bIns="0" rtlCol="0" anchor="ctr"/>
          <a:lstStyle/>
          <a:p>
            <a:pPr indent="0" marL="0">
              <a:buNone/>
            </a:pPr>
            <a:r>
              <a:rPr lang="en-US" sz="1000" dirty="0">
                <a:solidFill>
                  <a:srgbClr val="6B7380"/>
                </a:solidFill>
                <a:latin typeface="Calibri" pitchFamily="34" charset="0"/>
                <a:ea typeface="Calibri" pitchFamily="34" charset="-122"/>
                <a:cs typeface="Calibri" pitchFamily="34" charset="-120"/>
              </a:rPr>
              <a:t>Sources: Zentral Hack 2026 task description; Code World Models for General Game Playing, arXiv 2510.04542.</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FF7A33"/>
                </a:solidFill>
                <a:latin typeface="Consolas" pitchFamily="34" charset="0"/>
                <a:ea typeface="Consolas" pitchFamily="34" charset="-122"/>
                <a:cs typeface="Consolas" pitchFamily="34" charset="-120"/>
              </a:rPr>
              <a:t>THE HARNESS</a:t>
            </a:r>
            <a:endParaRPr lang="en-US" sz="1200" dirty="0"/>
          </a:p>
        </p:txBody>
      </p:sp>
      <p:sp>
        <p:nvSpPr>
          <p:cNvPr id="3" name="Text 0"/>
          <p:cNvSpPr/>
          <p:nvPr>
            <p:ph idx="100" type="title" hasCustomPrompt="1"/>
          </p:nvPr>
        </p:nvSpPr>
        <p:spPr>
          <a:xfrm>
            <a:off x="548640" y="713232"/>
            <a:ext cx="11094415" cy="822960"/>
          </a:xfrm>
          <a:prstGeom prst="rect">
            <a:avLst/>
          </a:prstGeom>
          <a:noFill/>
          <a:ln/>
        </p:spPr>
        <p:txBody>
          <a:bodyPr wrap="square" lIns="0" tIns="0" rIns="0" bIns="0" rtlCol="0" anchor="t"/>
          <a:lstStyle/>
          <a:p>
            <a:pPr algn="l" indent="0" marL="0">
              <a:buNone/>
            </a:pPr>
            <a:r>
              <a:rPr lang="en-US" sz="3400" b="1" dirty="0">
                <a:solidFill>
                  <a:srgbClr val="F3F0E8"/>
                </a:solidFill>
                <a:latin typeface="Century Gothic" pitchFamily="34" charset="0"/>
                <a:ea typeface="Century Gothic" pitchFamily="34" charset="-122"/>
                <a:cs typeface="Century Gothic" pitchFamily="34" charset="-120"/>
              </a:rPr>
              <a:t>Many drafts, one verified simulator, one champion</a:t>
            </a:r>
            <a:endParaRPr lang="en-US" sz="3400" dirty="0"/>
          </a:p>
        </p:txBody>
      </p:sp>
      <p:sp>
        <p:nvSpPr>
          <p:cNvPr id="4" name="stage Write"/>
          <p:cNvSpPr/>
          <p:nvPr/>
        </p:nvSpPr>
        <p:spPr>
          <a:xfrm>
            <a:off x="548640" y="1965960"/>
            <a:ext cx="1938528" cy="2331720"/>
          </a:xfrm>
          <a:prstGeom prst="roundRect">
            <a:avLst>
              <a:gd name="adj" fmla="val 4717"/>
            </a:avLst>
          </a:prstGeom>
          <a:solidFill>
            <a:srgbClr val="1B2029"/>
          </a:solidFill>
          <a:ln w="9525">
            <a:solidFill>
              <a:srgbClr val="3A4350"/>
            </a:solidFill>
            <a:prstDash val="solid"/>
          </a:ln>
        </p:spPr>
      </p:sp>
      <p:sp>
        <p:nvSpPr>
          <p:cNvPr id="5" name="Text 3"/>
          <p:cNvSpPr txBox="1"/>
          <p:nvPr/>
        </p:nvSpPr>
        <p:spPr>
          <a:xfrm>
            <a:off x="731520" y="2167128"/>
            <a:ext cx="457200" cy="320040"/>
          </a:xfrm>
          <a:prstGeom prst="rect">
            <a:avLst/>
          </a:prstGeom>
          <a:noFill/>
          <a:ln/>
        </p:spPr>
        <p:txBody>
          <a:bodyPr wrap="square" lIns="0" tIns="0" rIns="0" bIns="0" rtlCol="0" anchor="ctr"/>
          <a:lstStyle/>
          <a:p>
            <a:pPr indent="0" marL="0">
              <a:buNone/>
            </a:pPr>
            <a:r>
              <a:rPr lang="en-US" sz="1400" b="1" dirty="0">
                <a:solidFill>
                  <a:srgbClr val="FF7A33"/>
                </a:solidFill>
                <a:latin typeface="Consolas" pitchFamily="34" charset="0"/>
                <a:ea typeface="Consolas" pitchFamily="34" charset="-122"/>
                <a:cs typeface="Consolas" pitchFamily="34" charset="-120"/>
              </a:rPr>
              <a:t>1</a:t>
            </a:r>
            <a:endParaRPr lang="en-US" sz="1400" dirty="0"/>
          </a:p>
        </p:txBody>
      </p:sp>
      <p:sp>
        <p:nvSpPr>
          <p:cNvPr id="6" name="Text 4"/>
          <p:cNvSpPr txBox="1"/>
          <p:nvPr/>
        </p:nvSpPr>
        <p:spPr>
          <a:xfrm>
            <a:off x="731520" y="2532888"/>
            <a:ext cx="1572768" cy="411480"/>
          </a:xfrm>
          <a:prstGeom prst="rect">
            <a:avLst/>
          </a:prstGeom>
          <a:noFill/>
          <a:ln/>
        </p:spPr>
        <p:txBody>
          <a:bodyPr wrap="square" lIns="0" tIns="0" rIns="0" bIns="0" rtlCol="0" anchor="ctr"/>
          <a:lstStyle/>
          <a:p>
            <a:pPr indent="0" marL="0">
              <a:buNone/>
            </a:pPr>
            <a:r>
              <a:rPr lang="en-US" sz="2000" b="1" dirty="0">
                <a:solidFill>
                  <a:srgbClr val="F3F0E8"/>
                </a:solidFill>
                <a:latin typeface="Century Gothic" pitchFamily="34" charset="0"/>
                <a:ea typeface="Century Gothic" pitchFamily="34" charset="-122"/>
                <a:cs typeface="Century Gothic" pitchFamily="34" charset="-120"/>
              </a:rPr>
              <a:t>Write</a:t>
            </a:r>
            <a:endParaRPr lang="en-US" sz="2000" dirty="0"/>
          </a:p>
        </p:txBody>
      </p:sp>
      <p:sp>
        <p:nvSpPr>
          <p:cNvPr id="7" name="Text 5"/>
          <p:cNvSpPr txBox="1"/>
          <p:nvPr/>
        </p:nvSpPr>
        <p:spPr>
          <a:xfrm>
            <a:off x="731520" y="3017520"/>
            <a:ext cx="1618488" cy="1600200"/>
          </a:xfrm>
          <a:prstGeom prst="rect">
            <a:avLst/>
          </a:prstGeom>
          <a:noFill/>
          <a:ln/>
        </p:spPr>
        <p:txBody>
          <a:bodyPr wrap="square" lIns="0" tIns="0" rIns="0" bIns="0" rtlCol="0" anchor="t"/>
          <a:lstStyle/>
          <a:p>
            <a:pPr indent="0" marL="0">
              <a:buNone/>
            </a:pPr>
            <a:r>
              <a:rPr lang="en-US" sz="1400" dirty="0">
                <a:solidFill>
                  <a:srgbClr val="AEB6C2"/>
                </a:solidFill>
                <a:latin typeface="Calibri" pitchFamily="34" charset="0"/>
                <a:ea typeface="Calibri" pitchFamily="34" charset="-122"/>
                <a:cs typeface="Calibri" pitchFamily="34" charset="-120"/>
              </a:rPr>
              <a:t>3–4 strategy drafts with different personas, and a simulator, in parallel</a:t>
            </a:r>
            <a:endParaRPr lang="en-US" sz="1400" dirty="0"/>
          </a:p>
        </p:txBody>
      </p:sp>
      <p:sp>
        <p:nvSpPr>
          <p:cNvPr id="8" name="arrow"/>
          <p:cNvSpPr/>
          <p:nvPr/>
        </p:nvSpPr>
        <p:spPr>
          <a:xfrm>
            <a:off x="2560320" y="3022092"/>
            <a:ext cx="210312" cy="219456"/>
          </a:xfrm>
          <a:prstGeom prst="rightArrow">
            <a:avLst/>
          </a:prstGeom>
          <a:solidFill>
            <a:srgbClr val="3A4350"/>
          </a:solidFill>
          <a:ln w="12700">
            <a:solidFill>
              <a:srgbClr val="3A4350"/>
            </a:solidFill>
            <a:prstDash val="solid"/>
          </a:ln>
        </p:spPr>
      </p:sp>
      <p:sp>
        <p:nvSpPr>
          <p:cNvPr id="9" name="stage Verify"/>
          <p:cNvSpPr/>
          <p:nvPr/>
        </p:nvSpPr>
        <p:spPr>
          <a:xfrm>
            <a:off x="2843784" y="1965960"/>
            <a:ext cx="1938528" cy="2331720"/>
          </a:xfrm>
          <a:prstGeom prst="roundRect">
            <a:avLst>
              <a:gd name="adj" fmla="val 4717"/>
            </a:avLst>
          </a:prstGeom>
          <a:solidFill>
            <a:srgbClr val="1B2029"/>
          </a:solidFill>
          <a:ln w="9525">
            <a:solidFill>
              <a:srgbClr val="3A4350"/>
            </a:solidFill>
            <a:prstDash val="solid"/>
          </a:ln>
        </p:spPr>
      </p:sp>
      <p:sp>
        <p:nvSpPr>
          <p:cNvPr id="10" name="Text 8"/>
          <p:cNvSpPr txBox="1"/>
          <p:nvPr/>
        </p:nvSpPr>
        <p:spPr>
          <a:xfrm>
            <a:off x="3026664" y="2167128"/>
            <a:ext cx="457200" cy="320040"/>
          </a:xfrm>
          <a:prstGeom prst="rect">
            <a:avLst/>
          </a:prstGeom>
          <a:noFill/>
          <a:ln/>
        </p:spPr>
        <p:txBody>
          <a:bodyPr wrap="square" lIns="0" tIns="0" rIns="0" bIns="0" rtlCol="0" anchor="ctr"/>
          <a:lstStyle/>
          <a:p>
            <a:pPr indent="0" marL="0">
              <a:buNone/>
            </a:pPr>
            <a:r>
              <a:rPr lang="en-US" sz="1400" b="1" dirty="0">
                <a:solidFill>
                  <a:srgbClr val="FF7A33"/>
                </a:solidFill>
                <a:latin typeface="Consolas" pitchFamily="34" charset="0"/>
                <a:ea typeface="Consolas" pitchFamily="34" charset="-122"/>
                <a:cs typeface="Consolas" pitchFamily="34" charset="-120"/>
              </a:rPr>
              <a:t>2</a:t>
            </a:r>
            <a:endParaRPr lang="en-US" sz="1400" dirty="0"/>
          </a:p>
        </p:txBody>
      </p:sp>
      <p:sp>
        <p:nvSpPr>
          <p:cNvPr id="11" name="Text 9"/>
          <p:cNvSpPr txBox="1"/>
          <p:nvPr/>
        </p:nvSpPr>
        <p:spPr>
          <a:xfrm>
            <a:off x="3026664" y="2532888"/>
            <a:ext cx="1572768" cy="411480"/>
          </a:xfrm>
          <a:prstGeom prst="rect">
            <a:avLst/>
          </a:prstGeom>
          <a:noFill/>
          <a:ln/>
        </p:spPr>
        <p:txBody>
          <a:bodyPr wrap="square" lIns="0" tIns="0" rIns="0" bIns="0" rtlCol="0" anchor="ctr"/>
          <a:lstStyle/>
          <a:p>
            <a:pPr indent="0" marL="0">
              <a:buNone/>
            </a:pPr>
            <a:r>
              <a:rPr lang="en-US" sz="2000" b="1" dirty="0">
                <a:solidFill>
                  <a:srgbClr val="F3F0E8"/>
                </a:solidFill>
                <a:latin typeface="Century Gothic" pitchFamily="34" charset="0"/>
                <a:ea typeface="Century Gothic" pitchFamily="34" charset="-122"/>
                <a:cs typeface="Century Gothic" pitchFamily="34" charset="-120"/>
              </a:rPr>
              <a:t>Verify</a:t>
            </a:r>
            <a:endParaRPr lang="en-US" sz="2000" dirty="0"/>
          </a:p>
        </p:txBody>
      </p:sp>
      <p:sp>
        <p:nvSpPr>
          <p:cNvPr id="12" name="Text 10"/>
          <p:cNvSpPr txBox="1"/>
          <p:nvPr/>
        </p:nvSpPr>
        <p:spPr>
          <a:xfrm>
            <a:off x="3026664" y="3017520"/>
            <a:ext cx="1618488" cy="1600200"/>
          </a:xfrm>
          <a:prstGeom prst="rect">
            <a:avLst/>
          </a:prstGeom>
          <a:noFill/>
          <a:ln/>
        </p:spPr>
        <p:txBody>
          <a:bodyPr wrap="square" lIns="0" tIns="0" rIns="0" bIns="0" rtlCol="0" anchor="t"/>
          <a:lstStyle/>
          <a:p>
            <a:pPr indent="0" marL="0">
              <a:buNone/>
            </a:pPr>
            <a:r>
              <a:rPr lang="en-US" sz="1400" dirty="0">
                <a:solidFill>
                  <a:srgbClr val="AEB6C2"/>
                </a:solidFill>
                <a:latin typeface="Calibri" pitchFamily="34" charset="0"/>
                <a:ea typeface="Calibri" pitchFamily="34" charset="-122"/>
                <a:cs typeface="Calibri" pitchFamily="34" charset="-120"/>
              </a:rPr>
              <a:t>The simulator must reproduce the spec’s worked examples; drafts are probed and repaired</a:t>
            </a:r>
            <a:endParaRPr lang="en-US" sz="1400" dirty="0"/>
          </a:p>
        </p:txBody>
      </p:sp>
      <p:sp>
        <p:nvSpPr>
          <p:cNvPr id="13" name="arrow"/>
          <p:cNvSpPr/>
          <p:nvPr/>
        </p:nvSpPr>
        <p:spPr>
          <a:xfrm>
            <a:off x="4855464" y="3022092"/>
            <a:ext cx="210312" cy="219456"/>
          </a:xfrm>
          <a:prstGeom prst="rightArrow">
            <a:avLst/>
          </a:prstGeom>
          <a:solidFill>
            <a:srgbClr val="3A4350"/>
          </a:solidFill>
          <a:ln w="12700">
            <a:solidFill>
              <a:srgbClr val="3A4350"/>
            </a:solidFill>
            <a:prstDash val="solid"/>
          </a:ln>
        </p:spPr>
      </p:sp>
      <p:sp>
        <p:nvSpPr>
          <p:cNvPr id="14" name="stage Self-play"/>
          <p:cNvSpPr/>
          <p:nvPr/>
        </p:nvSpPr>
        <p:spPr>
          <a:xfrm>
            <a:off x="5138928" y="1965960"/>
            <a:ext cx="1938528" cy="2331720"/>
          </a:xfrm>
          <a:prstGeom prst="roundRect">
            <a:avLst>
              <a:gd name="adj" fmla="val 4717"/>
            </a:avLst>
          </a:prstGeom>
          <a:solidFill>
            <a:srgbClr val="1B2029"/>
          </a:solidFill>
          <a:ln w="9525">
            <a:solidFill>
              <a:srgbClr val="3A4350"/>
            </a:solidFill>
            <a:prstDash val="solid"/>
          </a:ln>
        </p:spPr>
      </p:sp>
      <p:sp>
        <p:nvSpPr>
          <p:cNvPr id="15" name="Text 13"/>
          <p:cNvSpPr txBox="1"/>
          <p:nvPr/>
        </p:nvSpPr>
        <p:spPr>
          <a:xfrm>
            <a:off x="5321808" y="2167128"/>
            <a:ext cx="457200" cy="320040"/>
          </a:xfrm>
          <a:prstGeom prst="rect">
            <a:avLst/>
          </a:prstGeom>
          <a:noFill/>
          <a:ln/>
        </p:spPr>
        <p:txBody>
          <a:bodyPr wrap="square" lIns="0" tIns="0" rIns="0" bIns="0" rtlCol="0" anchor="ctr"/>
          <a:lstStyle/>
          <a:p>
            <a:pPr indent="0" marL="0">
              <a:buNone/>
            </a:pPr>
            <a:r>
              <a:rPr lang="en-US" sz="1400" b="1" dirty="0">
                <a:solidFill>
                  <a:srgbClr val="FF7A33"/>
                </a:solidFill>
                <a:latin typeface="Consolas" pitchFamily="34" charset="0"/>
                <a:ea typeface="Consolas" pitchFamily="34" charset="-122"/>
                <a:cs typeface="Consolas" pitchFamily="34" charset="-120"/>
              </a:rPr>
              <a:t>3</a:t>
            </a:r>
            <a:endParaRPr lang="en-US" sz="1400" dirty="0"/>
          </a:p>
        </p:txBody>
      </p:sp>
      <p:sp>
        <p:nvSpPr>
          <p:cNvPr id="16" name="Text 14"/>
          <p:cNvSpPr txBox="1"/>
          <p:nvPr/>
        </p:nvSpPr>
        <p:spPr>
          <a:xfrm>
            <a:off x="5321808" y="2532888"/>
            <a:ext cx="1572768" cy="411480"/>
          </a:xfrm>
          <a:prstGeom prst="rect">
            <a:avLst/>
          </a:prstGeom>
          <a:noFill/>
          <a:ln/>
        </p:spPr>
        <p:txBody>
          <a:bodyPr wrap="square" lIns="0" tIns="0" rIns="0" bIns="0" rtlCol="0" anchor="ctr"/>
          <a:lstStyle/>
          <a:p>
            <a:pPr indent="0" marL="0">
              <a:buNone/>
            </a:pPr>
            <a:r>
              <a:rPr lang="en-US" sz="2000" b="1" dirty="0">
                <a:solidFill>
                  <a:srgbClr val="F3F0E8"/>
                </a:solidFill>
                <a:latin typeface="Century Gothic" pitchFamily="34" charset="0"/>
                <a:ea typeface="Century Gothic" pitchFamily="34" charset="-122"/>
                <a:cs typeface="Century Gothic" pitchFamily="34" charset="-120"/>
              </a:rPr>
              <a:t>Self-play</a:t>
            </a:r>
            <a:endParaRPr lang="en-US" sz="2000" dirty="0"/>
          </a:p>
        </p:txBody>
      </p:sp>
      <p:sp>
        <p:nvSpPr>
          <p:cNvPr id="17" name="Text 15"/>
          <p:cNvSpPr txBox="1"/>
          <p:nvPr/>
        </p:nvSpPr>
        <p:spPr>
          <a:xfrm>
            <a:off x="5321808" y="3017520"/>
            <a:ext cx="1618488" cy="1600200"/>
          </a:xfrm>
          <a:prstGeom prst="rect">
            <a:avLst/>
          </a:prstGeom>
          <a:noFill/>
          <a:ln/>
        </p:spPr>
        <p:txBody>
          <a:bodyPr wrap="square" lIns="0" tIns="0" rIns="0" bIns="0" rtlCol="0" anchor="t"/>
          <a:lstStyle/>
          <a:p>
            <a:pPr indent="0" marL="0">
              <a:buNone/>
            </a:pPr>
            <a:r>
              <a:rPr lang="en-US" sz="1400" dirty="0">
                <a:solidFill>
                  <a:srgbClr val="AEB6C2"/>
                </a:solidFill>
                <a:latin typeface="Calibri" pitchFamily="34" charset="0"/>
                <a:ea typeface="Calibri" pitchFamily="34" charset="-122"/>
                <a:cs typeface="Calibri" pitchFamily="34" charset="-120"/>
              </a:rPr>
              <a:t>Round robin on the simulator: both seats, many seeds, real time limits</a:t>
            </a:r>
            <a:endParaRPr lang="en-US" sz="1400" dirty="0"/>
          </a:p>
        </p:txBody>
      </p:sp>
      <p:sp>
        <p:nvSpPr>
          <p:cNvPr id="18" name="arrow"/>
          <p:cNvSpPr/>
          <p:nvPr/>
        </p:nvSpPr>
        <p:spPr>
          <a:xfrm>
            <a:off x="7150608" y="3022092"/>
            <a:ext cx="210312" cy="219456"/>
          </a:xfrm>
          <a:prstGeom prst="rightArrow">
            <a:avLst/>
          </a:prstGeom>
          <a:solidFill>
            <a:srgbClr val="3A4350"/>
          </a:solidFill>
          <a:ln w="12700">
            <a:solidFill>
              <a:srgbClr val="3A4350"/>
            </a:solidFill>
            <a:prstDash val="solid"/>
          </a:ln>
        </p:spPr>
      </p:sp>
      <p:sp>
        <p:nvSpPr>
          <p:cNvPr id="19" name="stage Improve"/>
          <p:cNvSpPr/>
          <p:nvPr/>
        </p:nvSpPr>
        <p:spPr>
          <a:xfrm>
            <a:off x="7434072" y="1965960"/>
            <a:ext cx="1938528" cy="2331720"/>
          </a:xfrm>
          <a:prstGeom prst="roundRect">
            <a:avLst>
              <a:gd name="adj" fmla="val 4717"/>
            </a:avLst>
          </a:prstGeom>
          <a:solidFill>
            <a:srgbClr val="1B2029"/>
          </a:solidFill>
          <a:ln w="9525">
            <a:solidFill>
              <a:srgbClr val="3A4350"/>
            </a:solidFill>
            <a:prstDash val="solid"/>
          </a:ln>
        </p:spPr>
      </p:sp>
      <p:sp>
        <p:nvSpPr>
          <p:cNvPr id="20" name="Text 18"/>
          <p:cNvSpPr txBox="1"/>
          <p:nvPr/>
        </p:nvSpPr>
        <p:spPr>
          <a:xfrm>
            <a:off x="7616952" y="2167128"/>
            <a:ext cx="457200" cy="320040"/>
          </a:xfrm>
          <a:prstGeom prst="rect">
            <a:avLst/>
          </a:prstGeom>
          <a:noFill/>
          <a:ln/>
        </p:spPr>
        <p:txBody>
          <a:bodyPr wrap="square" lIns="0" tIns="0" rIns="0" bIns="0" rtlCol="0" anchor="ctr"/>
          <a:lstStyle/>
          <a:p>
            <a:pPr indent="0" marL="0">
              <a:buNone/>
            </a:pPr>
            <a:r>
              <a:rPr lang="en-US" sz="1400" b="1" dirty="0">
                <a:solidFill>
                  <a:srgbClr val="FF7A33"/>
                </a:solidFill>
                <a:latin typeface="Consolas" pitchFamily="34" charset="0"/>
                <a:ea typeface="Consolas" pitchFamily="34" charset="-122"/>
                <a:cs typeface="Consolas" pitchFamily="34" charset="-120"/>
              </a:rPr>
              <a:t>4</a:t>
            </a:r>
            <a:endParaRPr lang="en-US" sz="1400" dirty="0"/>
          </a:p>
        </p:txBody>
      </p:sp>
      <p:sp>
        <p:nvSpPr>
          <p:cNvPr id="21" name="Text 19"/>
          <p:cNvSpPr txBox="1"/>
          <p:nvPr/>
        </p:nvSpPr>
        <p:spPr>
          <a:xfrm>
            <a:off x="7616952" y="2532888"/>
            <a:ext cx="1572768" cy="411480"/>
          </a:xfrm>
          <a:prstGeom prst="rect">
            <a:avLst/>
          </a:prstGeom>
          <a:noFill/>
          <a:ln/>
        </p:spPr>
        <p:txBody>
          <a:bodyPr wrap="square" lIns="0" tIns="0" rIns="0" bIns="0" rtlCol="0" anchor="ctr"/>
          <a:lstStyle/>
          <a:p>
            <a:pPr indent="0" marL="0">
              <a:buNone/>
            </a:pPr>
            <a:r>
              <a:rPr lang="en-US" sz="2000" b="1" dirty="0">
                <a:solidFill>
                  <a:srgbClr val="F3F0E8"/>
                </a:solidFill>
                <a:latin typeface="Century Gothic" pitchFamily="34" charset="0"/>
                <a:ea typeface="Century Gothic" pitchFamily="34" charset="-122"/>
                <a:cs typeface="Century Gothic" pitchFamily="34" charset="-120"/>
              </a:rPr>
              <a:t>Improve</a:t>
            </a:r>
            <a:endParaRPr lang="en-US" sz="2000" dirty="0"/>
          </a:p>
        </p:txBody>
      </p:sp>
      <p:sp>
        <p:nvSpPr>
          <p:cNvPr id="22" name="Text 20"/>
          <p:cNvSpPr txBox="1"/>
          <p:nvPr/>
        </p:nvSpPr>
        <p:spPr>
          <a:xfrm>
            <a:off x="7616952" y="3017520"/>
            <a:ext cx="1618488" cy="1600200"/>
          </a:xfrm>
          <a:prstGeom prst="rect">
            <a:avLst/>
          </a:prstGeom>
          <a:noFill/>
          <a:ln/>
        </p:spPr>
        <p:txBody>
          <a:bodyPr wrap="square" lIns="0" tIns="0" rIns="0" bIns="0" rtlCol="0" anchor="t"/>
          <a:lstStyle/>
          <a:p>
            <a:pPr indent="0" marL="0">
              <a:buNone/>
            </a:pPr>
            <a:r>
              <a:rPr lang="en-US" sz="1400" dirty="0">
                <a:solidFill>
                  <a:srgbClr val="AEB6C2"/>
                </a:solidFill>
                <a:latin typeface="Calibri" pitchFamily="34" charset="0"/>
                <a:ea typeface="Calibri" pitchFamily="34" charset="-122"/>
                <a:cs typeface="Calibri" pitchFamily="34" charset="-120"/>
              </a:rPr>
              <a:t>The strongest model writes challengers against the champion’s weak spots</a:t>
            </a:r>
            <a:endParaRPr lang="en-US" sz="1400" dirty="0"/>
          </a:p>
        </p:txBody>
      </p:sp>
      <p:sp>
        <p:nvSpPr>
          <p:cNvPr id="23" name="arrow"/>
          <p:cNvSpPr/>
          <p:nvPr/>
        </p:nvSpPr>
        <p:spPr>
          <a:xfrm>
            <a:off x="9445752" y="3022092"/>
            <a:ext cx="210312" cy="219456"/>
          </a:xfrm>
          <a:prstGeom prst="rightArrow">
            <a:avLst/>
          </a:prstGeom>
          <a:solidFill>
            <a:srgbClr val="3A4350"/>
          </a:solidFill>
          <a:ln w="12700">
            <a:solidFill>
              <a:srgbClr val="3A4350"/>
            </a:solidFill>
            <a:prstDash val="solid"/>
          </a:ln>
        </p:spPr>
      </p:sp>
      <p:sp>
        <p:nvSpPr>
          <p:cNvPr id="24" name="stage Guard"/>
          <p:cNvSpPr/>
          <p:nvPr/>
        </p:nvSpPr>
        <p:spPr>
          <a:xfrm>
            <a:off x="9729216" y="1965960"/>
            <a:ext cx="1938528" cy="2331720"/>
          </a:xfrm>
          <a:prstGeom prst="roundRect">
            <a:avLst>
              <a:gd name="adj" fmla="val 4717"/>
            </a:avLst>
          </a:prstGeom>
          <a:solidFill>
            <a:srgbClr val="1B2029"/>
          </a:solidFill>
          <a:ln w="19050">
            <a:solidFill>
              <a:srgbClr val="FF7A33"/>
            </a:solidFill>
            <a:prstDash val="solid"/>
          </a:ln>
        </p:spPr>
      </p:sp>
      <p:sp>
        <p:nvSpPr>
          <p:cNvPr id="25" name="Text 23"/>
          <p:cNvSpPr txBox="1"/>
          <p:nvPr/>
        </p:nvSpPr>
        <p:spPr>
          <a:xfrm>
            <a:off x="9912096" y="2167128"/>
            <a:ext cx="457200" cy="320040"/>
          </a:xfrm>
          <a:prstGeom prst="rect">
            <a:avLst/>
          </a:prstGeom>
          <a:noFill/>
          <a:ln/>
        </p:spPr>
        <p:txBody>
          <a:bodyPr wrap="square" lIns="0" tIns="0" rIns="0" bIns="0" rtlCol="0" anchor="ctr"/>
          <a:lstStyle/>
          <a:p>
            <a:pPr indent="0" marL="0">
              <a:buNone/>
            </a:pPr>
            <a:r>
              <a:rPr lang="en-US" sz="1400" b="1" dirty="0">
                <a:solidFill>
                  <a:srgbClr val="FF7A33"/>
                </a:solidFill>
                <a:latin typeface="Consolas" pitchFamily="34" charset="0"/>
                <a:ea typeface="Consolas" pitchFamily="34" charset="-122"/>
                <a:cs typeface="Consolas" pitchFamily="34" charset="-120"/>
              </a:rPr>
              <a:t>5</a:t>
            </a:r>
            <a:endParaRPr lang="en-US" sz="1400" dirty="0"/>
          </a:p>
        </p:txBody>
      </p:sp>
      <p:sp>
        <p:nvSpPr>
          <p:cNvPr id="26" name="Text 24"/>
          <p:cNvSpPr txBox="1"/>
          <p:nvPr/>
        </p:nvSpPr>
        <p:spPr>
          <a:xfrm>
            <a:off x="9912096" y="2532888"/>
            <a:ext cx="1572768" cy="411480"/>
          </a:xfrm>
          <a:prstGeom prst="rect">
            <a:avLst/>
          </a:prstGeom>
          <a:noFill/>
          <a:ln/>
        </p:spPr>
        <p:txBody>
          <a:bodyPr wrap="square" lIns="0" tIns="0" rIns="0" bIns="0" rtlCol="0" anchor="ctr"/>
          <a:lstStyle/>
          <a:p>
            <a:pPr indent="0" marL="0">
              <a:buNone/>
            </a:pPr>
            <a:r>
              <a:rPr lang="en-US" sz="2000" b="1" dirty="0">
                <a:solidFill>
                  <a:srgbClr val="F3F0E8"/>
                </a:solidFill>
                <a:latin typeface="Century Gothic" pitchFamily="34" charset="0"/>
                <a:ea typeface="Century Gothic" pitchFamily="34" charset="-122"/>
                <a:cs typeface="Century Gothic" pitchFamily="34" charset="-120"/>
              </a:rPr>
              <a:t>Guard</a:t>
            </a:r>
            <a:endParaRPr lang="en-US" sz="2000" dirty="0"/>
          </a:p>
        </p:txBody>
      </p:sp>
      <p:sp>
        <p:nvSpPr>
          <p:cNvPr id="27" name="Text 25"/>
          <p:cNvSpPr txBox="1"/>
          <p:nvPr/>
        </p:nvSpPr>
        <p:spPr>
          <a:xfrm>
            <a:off x="9912096" y="3017520"/>
            <a:ext cx="1618488" cy="1600200"/>
          </a:xfrm>
          <a:prstGeom prst="rect">
            <a:avLst/>
          </a:prstGeom>
          <a:noFill/>
          <a:ln/>
        </p:spPr>
        <p:txBody>
          <a:bodyPr wrap="square" lIns="0" tIns="0" rIns="0" bIns="0" rtlCol="0" anchor="t"/>
          <a:lstStyle/>
          <a:p>
            <a:pPr indent="0" marL="0">
              <a:buNone/>
            </a:pPr>
            <a:r>
              <a:rPr lang="en-US" sz="1400" dirty="0">
                <a:solidFill>
                  <a:srgbClr val="AEB6C2"/>
                </a:solidFill>
                <a:latin typeface="Calibri" pitchFamily="34" charset="0"/>
                <a:ea typeface="Calibri" pitchFamily="34" charset="-122"/>
                <a:cs typeface="Calibri" pitchFamily="34" charset="-120"/>
              </a:rPr>
              <a:t>Hard timer, fallback strategy, output check: a forfeit is impossible</a:t>
            </a:r>
            <a:endParaRPr lang="en-US" sz="1400" dirty="0"/>
          </a:p>
        </p:txBody>
      </p:sp>
      <p:sp>
        <p:nvSpPr>
          <p:cNvPr id="28" name="loop"/>
          <p:cNvSpPr/>
          <p:nvPr/>
        </p:nvSpPr>
        <p:spPr>
          <a:xfrm>
            <a:off x="5321808" y="4498848"/>
            <a:ext cx="3867912" cy="384048"/>
          </a:xfrm>
          <a:prstGeom prst="roundRect">
            <a:avLst>
              <a:gd name="adj" fmla="val 50000"/>
            </a:avLst>
          </a:prstGeom>
          <a:solidFill>
            <a:srgbClr val="0F1218"/>
          </a:solidFill>
          <a:ln w="12700">
            <a:solidFill>
              <a:srgbClr val="FF7A33"/>
            </a:solidFill>
            <a:prstDash val="solid"/>
          </a:ln>
        </p:spPr>
      </p:sp>
      <p:sp>
        <p:nvSpPr>
          <p:cNvPr id="29" name="Text 27"/>
          <p:cNvSpPr txBox="1"/>
          <p:nvPr/>
        </p:nvSpPr>
        <p:spPr>
          <a:xfrm>
            <a:off x="5321808" y="4498848"/>
            <a:ext cx="3867912" cy="384048"/>
          </a:xfrm>
          <a:prstGeom prst="rect">
            <a:avLst/>
          </a:prstGeom>
          <a:noFill/>
          <a:ln/>
        </p:spPr>
        <p:txBody>
          <a:bodyPr wrap="square" lIns="0" tIns="0" rIns="0" bIns="0" rtlCol="0" anchor="ctr"/>
          <a:lstStyle/>
          <a:p>
            <a:pPr algn="ctr" indent="0" marL="0">
              <a:buNone/>
            </a:pPr>
            <a:r>
              <a:rPr lang="en-US" sz="1400" dirty="0">
                <a:solidFill>
                  <a:srgbClr val="FF7A33"/>
                </a:solidFill>
                <a:latin typeface="Calibri" pitchFamily="34" charset="0"/>
                <a:ea typeface="Calibri" pitchFamily="34" charset="-122"/>
                <a:cs typeface="Calibri" pitchFamily="34" charset="-120"/>
              </a:rPr>
              <a:t>↻  repeat while time and money last</a:t>
            </a:r>
            <a:endParaRPr lang="en-US" sz="1400" dirty="0"/>
          </a:p>
        </p:txBody>
      </p:sp>
      <p:sp>
        <p:nvSpPr>
          <p:cNvPr id="30" name="Text 28"/>
          <p:cNvSpPr txBox="1"/>
          <p:nvPr/>
        </p:nvSpPr>
        <p:spPr>
          <a:xfrm>
            <a:off x="548640" y="1572768"/>
            <a:ext cx="2286000" cy="274320"/>
          </a:xfrm>
          <a:prstGeom prst="rect">
            <a:avLst/>
          </a:prstGeom>
          <a:noFill/>
          <a:ln/>
        </p:spPr>
        <p:txBody>
          <a:bodyPr wrap="square" lIns="0" tIns="0" rIns="0" bIns="0" rtlCol="0" anchor="ctr"/>
          <a:lstStyle/>
          <a:p>
            <a:pPr indent="0" marL="0">
              <a:buNone/>
            </a:pPr>
            <a:r>
              <a:rPr lang="en-US" sz="1200" dirty="0">
                <a:solidFill>
                  <a:srgbClr val="7D8694"/>
                </a:solidFill>
                <a:latin typeface="Consolas" pitchFamily="34" charset="0"/>
                <a:ea typeface="Consolas" pitchFamily="34" charset="-122"/>
                <a:cs typeface="Consolas" pitchFamily="34" charset="-120"/>
              </a:rPr>
              <a:t>spec.md in</a:t>
            </a:r>
            <a:endParaRPr lang="en-US" sz="1200" dirty="0"/>
          </a:p>
        </p:txBody>
      </p:sp>
      <p:sp>
        <p:nvSpPr>
          <p:cNvPr id="31" name="Text 29"/>
          <p:cNvSpPr txBox="1"/>
          <p:nvPr/>
        </p:nvSpPr>
        <p:spPr>
          <a:xfrm>
            <a:off x="9357055" y="1572768"/>
            <a:ext cx="2286000" cy="274320"/>
          </a:xfrm>
          <a:prstGeom prst="rect">
            <a:avLst/>
          </a:prstGeom>
          <a:noFill/>
          <a:ln/>
        </p:spPr>
        <p:txBody>
          <a:bodyPr wrap="square" lIns="0" tIns="0" rIns="0" bIns="0" rtlCol="0" anchor="ctr"/>
          <a:lstStyle/>
          <a:p>
            <a:pPr algn="r" indent="0" marL="0">
              <a:buNone/>
            </a:pPr>
            <a:r>
              <a:rPr lang="en-US" sz="1200" dirty="0">
                <a:solidFill>
                  <a:srgbClr val="7D8694"/>
                </a:solidFill>
                <a:latin typeface="Consolas" pitchFamily="34" charset="0"/>
                <a:ea typeface="Consolas" pitchFamily="34" charset="-122"/>
                <a:cs typeface="Consolas" pitchFamily="34" charset="-120"/>
              </a:rPr>
              <a:t>strategy.py out</a:t>
            </a:r>
            <a:endParaRPr lang="en-US" sz="1200" dirty="0"/>
          </a:p>
        </p:txBody>
      </p:sp>
      <p:sp>
        <p:nvSpPr>
          <p:cNvPr id="32" name="Text 30"/>
          <p:cNvSpPr txBox="1"/>
          <p:nvPr/>
        </p:nvSpPr>
        <p:spPr>
          <a:xfrm>
            <a:off x="548640" y="5349240"/>
            <a:ext cx="5394960" cy="594360"/>
          </a:xfrm>
          <a:prstGeom prst="rect">
            <a:avLst/>
          </a:prstGeom>
          <a:noFill/>
          <a:ln/>
        </p:spPr>
        <p:txBody>
          <a:bodyPr wrap="square" lIns="0" tIns="0" rIns="0" bIns="0" rtlCol="0" anchor="t"/>
          <a:lstStyle/>
          <a:p>
            <a:pPr indent="0" marL="0">
              <a:buNone/>
            </a:pPr>
            <a:r>
              <a:rPr lang="en-US" sz="1400" b="1" dirty="0">
                <a:solidFill>
                  <a:srgbClr val="F3F0E8"/>
                </a:solidFill>
                <a:latin typeface="Calibri" pitchFamily="34" charset="0"/>
                <a:ea typeface="Calibri" pitchFamily="34" charset="-122"/>
                <a:cs typeface="Calibri" pitchFamily="34" charset="-120"/>
              </a:rPr>
              <a:t>Budget  </a:t>
            </a:r>
            <a:pPr indent="0" marL="0">
              <a:buNone/>
            </a:pPr>
            <a:r>
              <a:rPr lang="en-US" sz="1400" dirty="0">
                <a:solidFill>
                  <a:srgbClr val="AEB6C2"/>
                </a:solidFill>
                <a:latin typeface="Calibri" pitchFamily="34" charset="0"/>
                <a:ea typeface="Calibri" pitchFamily="34" charset="-122"/>
                <a:cs typeface="Calibri" pitchFamily="34" charset="-120"/>
              </a:rPr>
              <a:t>Every call reserves its worst-case cost before it is sent: it cannot overspend.</a:t>
            </a:r>
            <a:endParaRPr lang="en-US" sz="1400" dirty="0"/>
          </a:p>
        </p:txBody>
      </p:sp>
      <p:sp>
        <p:nvSpPr>
          <p:cNvPr id="33" name="Text 31"/>
          <p:cNvSpPr txBox="1"/>
          <p:nvPr/>
        </p:nvSpPr>
        <p:spPr>
          <a:xfrm>
            <a:off x="6217920" y="5349240"/>
            <a:ext cx="5394960" cy="594360"/>
          </a:xfrm>
          <a:prstGeom prst="rect">
            <a:avLst/>
          </a:prstGeom>
          <a:noFill/>
          <a:ln/>
        </p:spPr>
        <p:txBody>
          <a:bodyPr wrap="square" lIns="0" tIns="0" rIns="0" bIns="0" rtlCol="0" anchor="t"/>
          <a:lstStyle/>
          <a:p>
            <a:pPr indent="0" marL="0">
              <a:buNone/>
            </a:pPr>
            <a:r>
              <a:rPr lang="en-US" sz="1400" b="1" dirty="0">
                <a:solidFill>
                  <a:srgbClr val="F3F0E8"/>
                </a:solidFill>
                <a:latin typeface="Calibri" pitchFamily="34" charset="0"/>
                <a:ea typeface="Calibri" pitchFamily="34" charset="-122"/>
                <a:cs typeface="Calibri" pitchFamily="34" charset="-120"/>
              </a:rPr>
              <a:t>Deadline  </a:t>
            </a:r>
            <a:pPr indent="0" marL="0">
              <a:buNone/>
            </a:pPr>
            <a:r>
              <a:rPr lang="en-US" sz="1400" dirty="0">
                <a:solidFill>
                  <a:srgbClr val="AEB6C2"/>
                </a:solidFill>
                <a:latin typeface="Calibri" pitchFamily="34" charset="0"/>
                <a:ea typeface="Calibri" pitchFamily="34" charset="-122"/>
                <a:cs typeface="Calibri" pitchFamily="34" charset="-120"/>
              </a:rPr>
              <a:t>The clock counts from container start; the file on disk is valid at every second.</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D8694"/>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B44A12"/>
                </a:solidFill>
                <a:latin typeface="Consolas" pitchFamily="34" charset="0"/>
                <a:ea typeface="Consolas" pitchFamily="34" charset="-122"/>
                <a:cs typeface="Consolas" pitchFamily="34" charset="-120"/>
              </a:rPr>
              <a:t>HOW WE BUILT IT</a:t>
            </a:r>
            <a:endParaRPr lang="en-US" sz="1200" dirty="0"/>
          </a:p>
        </p:txBody>
      </p:sp>
      <p:sp>
        <p:nvSpPr>
          <p:cNvPr id="3" name="Text 0"/>
          <p:cNvSpPr/>
          <p:nvPr>
            <p:ph idx="100" type="title" hasCustomPrompt="1"/>
          </p:nvPr>
        </p:nvSpPr>
        <p:spPr>
          <a:xfrm>
            <a:off x="548640" y="713232"/>
            <a:ext cx="11094415" cy="822960"/>
          </a:xfrm>
          <a:prstGeom prst="rect">
            <a:avLst/>
          </a:prstGeom>
          <a:noFill/>
          <a:ln/>
        </p:spPr>
        <p:txBody>
          <a:bodyPr wrap="square" lIns="0" tIns="0" rIns="0" bIns="0" rtlCol="0" anchor="t"/>
          <a:lstStyle/>
          <a:p>
            <a:pPr algn="l" indent="0" marL="0">
              <a:buNone/>
            </a:pPr>
            <a:r>
              <a:rPr lang="en-US" sz="3400" b="1" dirty="0">
                <a:solidFill>
                  <a:srgbClr val="14171C"/>
                </a:solidFill>
                <a:latin typeface="Century Gothic" pitchFamily="34" charset="0"/>
                <a:ea typeface="Century Gothic" pitchFamily="34" charset="-122"/>
                <a:cs typeface="Century Gothic" pitchFamily="34" charset="-120"/>
              </a:rPr>
              <a:t>Built like it works: measure, decide, repeat</a:t>
            </a:r>
            <a:endParaRPr lang="en-US" sz="3400" dirty="0"/>
          </a:p>
        </p:txBody>
      </p:sp>
      <p:sp>
        <p:nvSpPr>
          <p:cNvPr id="4" name="Text 2"/>
          <p:cNvSpPr txBox="1"/>
          <p:nvPr/>
        </p:nvSpPr>
        <p:spPr>
          <a:xfrm>
            <a:off x="548640" y="1874520"/>
            <a:ext cx="3108960" cy="685800"/>
          </a:xfrm>
          <a:prstGeom prst="rect">
            <a:avLst/>
          </a:prstGeom>
          <a:noFill/>
          <a:ln/>
        </p:spPr>
        <p:txBody>
          <a:bodyPr wrap="square" lIns="0" tIns="0" rIns="0" bIns="0" rtlCol="0" anchor="ctr"/>
          <a:lstStyle/>
          <a:p>
            <a:pPr indent="0" marL="0">
              <a:buNone/>
            </a:pPr>
            <a:r>
              <a:rPr lang="en-US" sz="4000" b="1" dirty="0">
                <a:solidFill>
                  <a:srgbClr val="B44A12"/>
                </a:solidFill>
                <a:latin typeface="Century Gothic" pitchFamily="34" charset="0"/>
                <a:ea typeface="Century Gothic" pitchFamily="34" charset="-122"/>
                <a:cs typeface="Century Gothic" pitchFamily="34" charset="-120"/>
              </a:rPr>
              <a:t>8</a:t>
            </a:r>
            <a:endParaRPr lang="en-US" sz="4000" dirty="0"/>
          </a:p>
        </p:txBody>
      </p:sp>
      <p:sp>
        <p:nvSpPr>
          <p:cNvPr id="5" name="Text 3"/>
          <p:cNvSpPr txBox="1"/>
          <p:nvPr/>
        </p:nvSpPr>
        <p:spPr>
          <a:xfrm>
            <a:off x="548640" y="2560320"/>
            <a:ext cx="3108960" cy="502920"/>
          </a:xfrm>
          <a:prstGeom prst="rect">
            <a:avLst/>
          </a:prstGeom>
          <a:noFill/>
          <a:ln/>
        </p:spPr>
        <p:txBody>
          <a:bodyPr wrap="square" lIns="0" tIns="0" rIns="0" bIns="0" rtlCol="0" anchor="t"/>
          <a:lstStyle/>
          <a:p>
            <a:pPr indent="0" marL="0">
              <a:buNone/>
            </a:pPr>
            <a:r>
              <a:rPr lang="en-US" sz="1400" dirty="0">
                <a:solidFill>
                  <a:srgbClr val="4A5260"/>
                </a:solidFill>
                <a:latin typeface="Calibri" pitchFamily="34" charset="0"/>
                <a:ea typeface="Calibri" pitchFamily="34" charset="-122"/>
                <a:cs typeface="Calibri" pitchFamily="34" charset="-120"/>
              </a:rPr>
              <a:t>games: 2 dev, 6 our own, 2 of them held out</a:t>
            </a:r>
            <a:endParaRPr lang="en-US" sz="1400" dirty="0"/>
          </a:p>
        </p:txBody>
      </p:sp>
      <p:sp>
        <p:nvSpPr>
          <p:cNvPr id="6" name="Text 4"/>
          <p:cNvSpPr txBox="1"/>
          <p:nvPr/>
        </p:nvSpPr>
        <p:spPr>
          <a:xfrm>
            <a:off x="548640" y="3246120"/>
            <a:ext cx="3108960" cy="685800"/>
          </a:xfrm>
          <a:prstGeom prst="rect">
            <a:avLst/>
          </a:prstGeom>
          <a:noFill/>
          <a:ln/>
        </p:spPr>
        <p:txBody>
          <a:bodyPr wrap="square" lIns="0" tIns="0" rIns="0" bIns="0" rtlCol="0" anchor="ctr"/>
          <a:lstStyle/>
          <a:p>
            <a:pPr indent="0" marL="0">
              <a:buNone/>
            </a:pPr>
            <a:r>
              <a:rPr lang="en-US" sz="4000" b="1" dirty="0">
                <a:solidFill>
                  <a:srgbClr val="B44A12"/>
                </a:solidFill>
                <a:latin typeface="Century Gothic" pitchFamily="34" charset="0"/>
                <a:ea typeface="Century Gothic" pitchFamily="34" charset="-122"/>
                <a:cs typeface="Century Gothic" pitchFamily="34" charset="-120"/>
              </a:rPr>
              <a:t>58</a:t>
            </a:r>
            <a:endParaRPr lang="en-US" sz="4000" dirty="0"/>
          </a:p>
        </p:txBody>
      </p:sp>
      <p:sp>
        <p:nvSpPr>
          <p:cNvPr id="7" name="Text 5"/>
          <p:cNvSpPr txBox="1"/>
          <p:nvPr/>
        </p:nvSpPr>
        <p:spPr>
          <a:xfrm>
            <a:off x="548640" y="3931920"/>
            <a:ext cx="3108960" cy="502920"/>
          </a:xfrm>
          <a:prstGeom prst="rect">
            <a:avLst/>
          </a:prstGeom>
          <a:noFill/>
          <a:ln/>
        </p:spPr>
        <p:txBody>
          <a:bodyPr wrap="square" lIns="0" tIns="0" rIns="0" bIns="0" rtlCol="0" anchor="t"/>
          <a:lstStyle/>
          <a:p>
            <a:pPr indent="0" marL="0">
              <a:buNone/>
            </a:pPr>
            <a:r>
              <a:rPr lang="en-US" sz="1400" dirty="0">
                <a:solidFill>
                  <a:srgbClr val="4A5260"/>
                </a:solidFill>
                <a:latin typeface="Calibri" pitchFamily="34" charset="0"/>
                <a:ea typeface="Calibri" pitchFamily="34" charset="-122"/>
                <a:cs typeface="Calibri" pitchFamily="34" charset="-120"/>
              </a:rPr>
              <a:t>harness runs, every one measured</a:t>
            </a:r>
            <a:endParaRPr lang="en-US" sz="1400" dirty="0"/>
          </a:p>
        </p:txBody>
      </p:sp>
      <p:sp>
        <p:nvSpPr>
          <p:cNvPr id="8" name="Text 6"/>
          <p:cNvSpPr txBox="1"/>
          <p:nvPr/>
        </p:nvSpPr>
        <p:spPr>
          <a:xfrm>
            <a:off x="548640" y="4617720"/>
            <a:ext cx="3108960" cy="685800"/>
          </a:xfrm>
          <a:prstGeom prst="rect">
            <a:avLst/>
          </a:prstGeom>
          <a:noFill/>
          <a:ln/>
        </p:spPr>
        <p:txBody>
          <a:bodyPr wrap="square" lIns="0" tIns="0" rIns="0" bIns="0" rtlCol="0" anchor="ctr"/>
          <a:lstStyle/>
          <a:p>
            <a:pPr indent="0" marL="0">
              <a:buNone/>
            </a:pPr>
            <a:r>
              <a:rPr lang="en-US" sz="4000" b="1" dirty="0">
                <a:solidFill>
                  <a:srgbClr val="B44A12"/>
                </a:solidFill>
                <a:latin typeface="Century Gothic" pitchFamily="34" charset="0"/>
                <a:ea typeface="Century Gothic" pitchFamily="34" charset="-122"/>
                <a:cs typeface="Century Gothic" pitchFamily="34" charset="-120"/>
              </a:rPr>
              <a:t>≈ $21</a:t>
            </a:r>
            <a:endParaRPr lang="en-US" sz="4000" dirty="0"/>
          </a:p>
        </p:txBody>
      </p:sp>
      <p:sp>
        <p:nvSpPr>
          <p:cNvPr id="9" name="Text 7"/>
          <p:cNvSpPr txBox="1"/>
          <p:nvPr/>
        </p:nvSpPr>
        <p:spPr>
          <a:xfrm>
            <a:off x="548640" y="5303520"/>
            <a:ext cx="3108960" cy="502920"/>
          </a:xfrm>
          <a:prstGeom prst="rect">
            <a:avLst/>
          </a:prstGeom>
          <a:noFill/>
          <a:ln/>
        </p:spPr>
        <p:txBody>
          <a:bodyPr wrap="square" lIns="0" tIns="0" rIns="0" bIns="0" rtlCol="0" anchor="t"/>
          <a:lstStyle/>
          <a:p>
            <a:pPr indent="0" marL="0">
              <a:buNone/>
            </a:pPr>
            <a:r>
              <a:rPr lang="en-US" sz="1400" dirty="0">
                <a:solidFill>
                  <a:srgbClr val="4A5260"/>
                </a:solidFill>
                <a:latin typeface="Calibri" pitchFamily="34" charset="0"/>
                <a:ea typeface="Calibri" pitchFamily="34" charset="-122"/>
                <a:cs typeface="Calibri" pitchFamily="34" charset="-120"/>
              </a:rPr>
              <a:t>API cost in total</a:t>
            </a:r>
            <a:endParaRPr lang="en-US" sz="1400" dirty="0"/>
          </a:p>
        </p:txBody>
      </p:sp>
      <p:sp>
        <p:nvSpPr>
          <p:cNvPr id="10" name="Text 8"/>
          <p:cNvSpPr txBox="1"/>
          <p:nvPr/>
        </p:nvSpPr>
        <p:spPr>
          <a:xfrm>
            <a:off x="4160520" y="1828800"/>
            <a:ext cx="7482535" cy="548640"/>
          </a:xfrm>
          <a:prstGeom prst="rect">
            <a:avLst/>
          </a:prstGeom>
          <a:noFill/>
          <a:ln/>
        </p:spPr>
        <p:txBody>
          <a:bodyPr wrap="square" lIns="0" tIns="0" rIns="0" bIns="0" rtlCol="0" anchor="t"/>
          <a:lstStyle/>
          <a:p>
            <a:pPr indent="0" marL="0">
              <a:buNone/>
            </a:pPr>
            <a:r>
              <a:rPr lang="en-US" sz="1600" dirty="0">
                <a:solidFill>
                  <a:srgbClr val="14171C"/>
                </a:solidFill>
                <a:latin typeface="Calibri" pitchFamily="34" charset="0"/>
                <a:ea typeface="Calibri" pitchFamily="34" charset="-122"/>
                <a:cs typeface="Calibri" pitchFamily="34" charset="-120"/>
              </a:rPr>
              <a:t>Claude Code as the engineering team: parallel agents wrote and reviewed every module, held to 216 automated tests.</a:t>
            </a:r>
            <a:endParaRPr lang="en-US" sz="1600" dirty="0"/>
          </a:p>
        </p:txBody>
      </p:sp>
      <p:sp>
        <p:nvSpPr>
          <p:cNvPr id="11" name="epoch 1"/>
          <p:cNvSpPr/>
          <p:nvPr/>
        </p:nvSpPr>
        <p:spPr>
          <a:xfrm>
            <a:off x="4160520" y="2560320"/>
            <a:ext cx="7482535" cy="1024128"/>
          </a:xfrm>
          <a:prstGeom prst="roundRect">
            <a:avLst>
              <a:gd name="adj" fmla="val 8929"/>
            </a:avLst>
          </a:prstGeom>
          <a:solidFill>
            <a:srgbClr val="FFFFFF"/>
          </a:solidFill>
          <a:ln w="9525">
            <a:solidFill>
              <a:srgbClr val="D9DDE3"/>
            </a:solidFill>
            <a:prstDash val="solid"/>
          </a:ln>
          <a:effectLst>
            <a:outerShdw sx="100000" sy="100000" kx="0" ky="0" algn="bl" rotWithShape="0" blurRad="101600" dist="25400" dir="5400000">
              <a:srgbClr val="000000">
                <a:alpha val="8000"/>
              </a:srgbClr>
            </a:outerShdw>
          </a:effectLst>
        </p:spPr>
      </p:sp>
      <p:sp>
        <p:nvSpPr>
          <p:cNvPr id="12" name="Text 10"/>
          <p:cNvSpPr txBox="1"/>
          <p:nvPr/>
        </p:nvSpPr>
        <p:spPr>
          <a:xfrm>
            <a:off x="4434840" y="2743200"/>
            <a:ext cx="1188720" cy="320040"/>
          </a:xfrm>
          <a:prstGeom prst="rect">
            <a:avLst/>
          </a:prstGeom>
          <a:noFill/>
          <a:ln/>
        </p:spPr>
        <p:txBody>
          <a:bodyPr wrap="square" lIns="0" tIns="0" rIns="0" bIns="0" rtlCol="0" anchor="ctr"/>
          <a:lstStyle/>
          <a:p>
            <a:pPr indent="0" marL="0">
              <a:buNone/>
            </a:pPr>
            <a:r>
              <a:rPr lang="en-US" sz="1200" b="1" dirty="0">
                <a:solidFill>
                  <a:srgbClr val="B44A12"/>
                </a:solidFill>
                <a:latin typeface="Consolas" pitchFamily="34" charset="0"/>
                <a:ea typeface="Consolas" pitchFamily="34" charset="-122"/>
                <a:cs typeface="Consolas" pitchFamily="34" charset="-120"/>
              </a:rPr>
              <a:t>EPOCH 1</a:t>
            </a:r>
            <a:endParaRPr lang="en-US" sz="1200" dirty="0"/>
          </a:p>
        </p:txBody>
      </p:sp>
      <p:sp>
        <p:nvSpPr>
          <p:cNvPr id="13" name="Text 11"/>
          <p:cNvSpPr txBox="1"/>
          <p:nvPr/>
        </p:nvSpPr>
        <p:spPr>
          <a:xfrm>
            <a:off x="5669280" y="2706624"/>
            <a:ext cx="5699455" cy="365760"/>
          </a:xfrm>
          <a:prstGeom prst="rect">
            <a:avLst/>
          </a:prstGeom>
          <a:noFill/>
          <a:ln/>
        </p:spPr>
        <p:txBody>
          <a:bodyPr wrap="square" lIns="0" tIns="0" rIns="0" bIns="0" rtlCol="0" anchor="ctr"/>
          <a:lstStyle/>
          <a:p>
            <a:pPr indent="0" marL="0">
              <a:buNone/>
            </a:pPr>
            <a:r>
              <a:rPr lang="en-US" sz="1800" b="1" dirty="0">
                <a:solidFill>
                  <a:srgbClr val="14171C"/>
                </a:solidFill>
                <a:latin typeface="Century Gothic" pitchFamily="34" charset="0"/>
                <a:ea typeface="Century Gothic" pitchFamily="34" charset="-122"/>
                <a:cs typeface="Century Gothic" pitchFamily="34" charset="-120"/>
              </a:rPr>
              <a:t>Ablation · 24 runs</a:t>
            </a:r>
            <a:endParaRPr lang="en-US" sz="1800" dirty="0"/>
          </a:p>
        </p:txBody>
      </p:sp>
      <p:sp>
        <p:nvSpPr>
          <p:cNvPr id="14" name="Text 12"/>
          <p:cNvSpPr txBox="1"/>
          <p:nvPr/>
        </p:nvSpPr>
        <p:spPr>
          <a:xfrm>
            <a:off x="5669280" y="3072384"/>
            <a:ext cx="5699455" cy="457200"/>
          </a:xfrm>
          <a:prstGeom prst="rect">
            <a:avLst/>
          </a:prstGeom>
          <a:noFill/>
          <a:ln/>
        </p:spPr>
        <p:txBody>
          <a:bodyPr wrap="square" lIns="0" tIns="0" rIns="0" bIns="0" rtlCol="0" anchor="t"/>
          <a:lstStyle/>
          <a:p>
            <a:pPr indent="0" marL="0">
              <a:buNone/>
            </a:pPr>
            <a:r>
              <a:rPr lang="en-US" sz="1400" dirty="0">
                <a:solidFill>
                  <a:srgbClr val="4A5260"/>
                </a:solidFill>
                <a:latin typeface="Calibri" pitchFamily="34" charset="0"/>
                <a:ea typeface="Calibri" pitchFamily="34" charset="-122"/>
                <a:cs typeface="Calibri" pitchFamily="34" charset="-120"/>
              </a:rPr>
              <a:t>Pipeline ≫ one-shot. Improvement rounds: the biggest gain. The sparring draft hurt selection: removed.</a:t>
            </a:r>
            <a:endParaRPr lang="en-US" sz="1400" dirty="0"/>
          </a:p>
        </p:txBody>
      </p:sp>
      <p:sp>
        <p:nvSpPr>
          <p:cNvPr id="15" name="epoch 2"/>
          <p:cNvSpPr/>
          <p:nvPr/>
        </p:nvSpPr>
        <p:spPr>
          <a:xfrm>
            <a:off x="4160520" y="3749040"/>
            <a:ext cx="7482535" cy="1024128"/>
          </a:xfrm>
          <a:prstGeom prst="roundRect">
            <a:avLst>
              <a:gd name="adj" fmla="val 8929"/>
            </a:avLst>
          </a:prstGeom>
          <a:solidFill>
            <a:srgbClr val="FFFFFF"/>
          </a:solidFill>
          <a:ln w="9525">
            <a:solidFill>
              <a:srgbClr val="D9DDE3"/>
            </a:solidFill>
            <a:prstDash val="solid"/>
          </a:ln>
          <a:effectLst>
            <a:outerShdw sx="100000" sy="100000" kx="0" ky="0" algn="bl" rotWithShape="0" blurRad="101600" dist="25400" dir="5400000">
              <a:srgbClr val="000000">
                <a:alpha val="8000"/>
              </a:srgbClr>
            </a:outerShdw>
          </a:effectLst>
        </p:spPr>
      </p:sp>
      <p:sp>
        <p:nvSpPr>
          <p:cNvPr id="16" name="Text 14"/>
          <p:cNvSpPr txBox="1"/>
          <p:nvPr/>
        </p:nvSpPr>
        <p:spPr>
          <a:xfrm>
            <a:off x="4434840" y="3931920"/>
            <a:ext cx="1188720" cy="320040"/>
          </a:xfrm>
          <a:prstGeom prst="rect">
            <a:avLst/>
          </a:prstGeom>
          <a:noFill/>
          <a:ln/>
        </p:spPr>
        <p:txBody>
          <a:bodyPr wrap="square" lIns="0" tIns="0" rIns="0" bIns="0" rtlCol="0" anchor="ctr"/>
          <a:lstStyle/>
          <a:p>
            <a:pPr indent="0" marL="0">
              <a:buNone/>
            </a:pPr>
            <a:r>
              <a:rPr lang="en-US" sz="1200" b="1" dirty="0">
                <a:solidFill>
                  <a:srgbClr val="B44A12"/>
                </a:solidFill>
                <a:latin typeface="Consolas" pitchFamily="34" charset="0"/>
                <a:ea typeface="Consolas" pitchFamily="34" charset="-122"/>
                <a:cs typeface="Consolas" pitchFamily="34" charset="-120"/>
              </a:rPr>
              <a:t>EPOCH 2</a:t>
            </a:r>
            <a:endParaRPr lang="en-US" sz="1200" dirty="0"/>
          </a:p>
        </p:txBody>
      </p:sp>
      <p:sp>
        <p:nvSpPr>
          <p:cNvPr id="17" name="Text 15"/>
          <p:cNvSpPr txBox="1"/>
          <p:nvPr/>
        </p:nvSpPr>
        <p:spPr>
          <a:xfrm>
            <a:off x="5669280" y="3895344"/>
            <a:ext cx="5699455" cy="365760"/>
          </a:xfrm>
          <a:prstGeom prst="rect">
            <a:avLst/>
          </a:prstGeom>
          <a:noFill/>
          <a:ln/>
        </p:spPr>
        <p:txBody>
          <a:bodyPr wrap="square" lIns="0" tIns="0" rIns="0" bIns="0" rtlCol="0" anchor="ctr"/>
          <a:lstStyle/>
          <a:p>
            <a:pPr indent="0" marL="0">
              <a:buNone/>
            </a:pPr>
            <a:r>
              <a:rPr lang="en-US" sz="1800" b="1" dirty="0">
                <a:solidFill>
                  <a:srgbClr val="14171C"/>
                </a:solidFill>
                <a:latin typeface="Century Gothic" pitchFamily="34" charset="0"/>
                <a:ea typeface="Century Gothic" pitchFamily="34" charset="-122"/>
                <a:cs typeface="Century Gothic" pitchFamily="34" charset="-120"/>
              </a:rPr>
              <a:t>Tournament conditions · 18 runs</a:t>
            </a:r>
            <a:endParaRPr lang="en-US" sz="1800" dirty="0"/>
          </a:p>
        </p:txBody>
      </p:sp>
      <p:sp>
        <p:nvSpPr>
          <p:cNvPr id="18" name="Text 16"/>
          <p:cNvSpPr txBox="1"/>
          <p:nvPr/>
        </p:nvSpPr>
        <p:spPr>
          <a:xfrm>
            <a:off x="5669280" y="4261104"/>
            <a:ext cx="5699455" cy="457200"/>
          </a:xfrm>
          <a:prstGeom prst="rect">
            <a:avLst/>
          </a:prstGeom>
          <a:noFill/>
          <a:ln/>
        </p:spPr>
        <p:txBody>
          <a:bodyPr wrap="square" lIns="0" tIns="0" rIns="0" bIns="0" rtlCol="0" anchor="t"/>
          <a:lstStyle/>
          <a:p>
            <a:pPr indent="0" marL="0">
              <a:buNone/>
            </a:pPr>
            <a:r>
              <a:rPr lang="en-US" sz="1400" dirty="0">
                <a:solidFill>
                  <a:srgbClr val="4A5260"/>
                </a:solidFill>
                <a:latin typeface="Calibri" pitchFamily="34" charset="0"/>
                <a:ea typeface="Calibri" pitchFamily="34" charset="-122"/>
                <a:cs typeface="Calibri" pitchFamily="34" charset="-120"/>
              </a:rPr>
              <a:t>Self-play now runs with the real time limits. Spare-time seeds and medium-effort improvement: kept.</a:t>
            </a:r>
            <a:endParaRPr lang="en-US" sz="1400" dirty="0"/>
          </a:p>
        </p:txBody>
      </p:sp>
      <p:sp>
        <p:nvSpPr>
          <p:cNvPr id="19" name="epoch 3"/>
          <p:cNvSpPr/>
          <p:nvPr/>
        </p:nvSpPr>
        <p:spPr>
          <a:xfrm>
            <a:off x="4160520" y="4937760"/>
            <a:ext cx="7482535" cy="1024128"/>
          </a:xfrm>
          <a:prstGeom prst="roundRect">
            <a:avLst>
              <a:gd name="adj" fmla="val 8929"/>
            </a:avLst>
          </a:prstGeom>
          <a:solidFill>
            <a:srgbClr val="FFFFFF"/>
          </a:solidFill>
          <a:ln w="9525">
            <a:solidFill>
              <a:srgbClr val="D9DDE3"/>
            </a:solidFill>
            <a:prstDash val="solid"/>
          </a:ln>
          <a:effectLst>
            <a:outerShdw sx="100000" sy="100000" kx="0" ky="0" algn="bl" rotWithShape="0" blurRad="101600" dist="25400" dir="5400000">
              <a:srgbClr val="000000">
                <a:alpha val="8000"/>
              </a:srgbClr>
            </a:outerShdw>
          </a:effectLst>
        </p:spPr>
      </p:sp>
      <p:sp>
        <p:nvSpPr>
          <p:cNvPr id="20" name="Text 18"/>
          <p:cNvSpPr txBox="1"/>
          <p:nvPr/>
        </p:nvSpPr>
        <p:spPr>
          <a:xfrm>
            <a:off x="4434840" y="5120640"/>
            <a:ext cx="1188720" cy="320040"/>
          </a:xfrm>
          <a:prstGeom prst="rect">
            <a:avLst/>
          </a:prstGeom>
          <a:noFill/>
          <a:ln/>
        </p:spPr>
        <p:txBody>
          <a:bodyPr wrap="square" lIns="0" tIns="0" rIns="0" bIns="0" rtlCol="0" anchor="ctr"/>
          <a:lstStyle/>
          <a:p>
            <a:pPr indent="0" marL="0">
              <a:buNone/>
            </a:pPr>
            <a:r>
              <a:rPr lang="en-US" sz="1200" b="1" dirty="0">
                <a:solidFill>
                  <a:srgbClr val="B44A12"/>
                </a:solidFill>
                <a:latin typeface="Consolas" pitchFamily="34" charset="0"/>
                <a:ea typeface="Consolas" pitchFamily="34" charset="-122"/>
                <a:cs typeface="Consolas" pitchFamily="34" charset="-120"/>
              </a:rPr>
              <a:t>EPOCH 3</a:t>
            </a:r>
            <a:endParaRPr lang="en-US" sz="1200" dirty="0"/>
          </a:p>
        </p:txBody>
      </p:sp>
      <p:sp>
        <p:nvSpPr>
          <p:cNvPr id="21" name="Text 19"/>
          <p:cNvSpPr txBox="1"/>
          <p:nvPr/>
        </p:nvSpPr>
        <p:spPr>
          <a:xfrm>
            <a:off x="5669280" y="5084064"/>
            <a:ext cx="5699455" cy="365760"/>
          </a:xfrm>
          <a:prstGeom prst="rect">
            <a:avLst/>
          </a:prstGeom>
          <a:noFill/>
          <a:ln/>
        </p:spPr>
        <p:txBody>
          <a:bodyPr wrap="square" lIns="0" tIns="0" rIns="0" bIns="0" rtlCol="0" anchor="ctr"/>
          <a:lstStyle/>
          <a:p>
            <a:pPr indent="0" marL="0">
              <a:buNone/>
            </a:pPr>
            <a:r>
              <a:rPr lang="en-US" sz="1800" b="1" dirty="0">
                <a:solidFill>
                  <a:srgbClr val="14171C"/>
                </a:solidFill>
                <a:latin typeface="Century Gothic" pitchFamily="34" charset="0"/>
                <a:ea typeface="Century Gothic" pitchFamily="34" charset="-122"/>
                <a:cs typeface="Century Gothic" pitchFamily="34" charset="-120"/>
              </a:rPr>
              <a:t>Failure mining · every log</a:t>
            </a:r>
            <a:endParaRPr lang="en-US" sz="1800" dirty="0"/>
          </a:p>
        </p:txBody>
      </p:sp>
      <p:sp>
        <p:nvSpPr>
          <p:cNvPr id="22" name="Text 20"/>
          <p:cNvSpPr txBox="1"/>
          <p:nvPr/>
        </p:nvSpPr>
        <p:spPr>
          <a:xfrm>
            <a:off x="5669280" y="5449824"/>
            <a:ext cx="5699455" cy="457200"/>
          </a:xfrm>
          <a:prstGeom prst="rect">
            <a:avLst/>
          </a:prstGeom>
          <a:noFill/>
          <a:ln/>
        </p:spPr>
        <p:txBody>
          <a:bodyPr wrap="square" lIns="0" tIns="0" rIns="0" bIns="0" rtlCol="0" anchor="t"/>
          <a:lstStyle/>
          <a:p>
            <a:pPr indent="0" marL="0">
              <a:buNone/>
            </a:pPr>
            <a:r>
              <a:rPr lang="en-US" sz="1400" dirty="0">
                <a:solidFill>
                  <a:srgbClr val="4A5260"/>
                </a:solidFill>
                <a:latin typeface="Calibri" pitchFamily="34" charset="0"/>
                <a:ea typeface="Calibri" pitchFamily="34" charset="-122"/>
                <a:cs typeface="Calibri" pitchFamily="34" charset="-120"/>
              </a:rPr>
              <a:t>Two agents mined all runs: 3 defects fixed, 6 ideas queued, each to pass a with/without test.</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B44A12"/>
                </a:solidFill>
                <a:latin typeface="Consolas" pitchFamily="34" charset="0"/>
                <a:ea typeface="Consolas" pitchFamily="34" charset="-122"/>
                <a:cs typeface="Consolas" pitchFamily="34" charset="-120"/>
              </a:rPr>
              <a:t>EPOCH 1 · RESULT</a:t>
            </a:r>
            <a:endParaRPr lang="en-US" sz="1200" dirty="0"/>
          </a:p>
        </p:txBody>
      </p:sp>
      <p:sp>
        <p:nvSpPr>
          <p:cNvPr id="3" name="Text 0"/>
          <p:cNvSpPr/>
          <p:nvPr>
            <p:ph idx="100" type="title" hasCustomPrompt="1"/>
          </p:nvPr>
        </p:nvSpPr>
        <p:spPr>
          <a:xfrm>
            <a:off x="548640" y="713232"/>
            <a:ext cx="11094415" cy="822960"/>
          </a:xfrm>
          <a:prstGeom prst="rect">
            <a:avLst/>
          </a:prstGeom>
          <a:noFill/>
          <a:ln/>
        </p:spPr>
        <p:txBody>
          <a:bodyPr wrap="square" lIns="0" tIns="0" rIns="0" bIns="0" rtlCol="0" anchor="t"/>
          <a:lstStyle/>
          <a:p>
            <a:pPr algn="l" indent="0" marL="0">
              <a:buNone/>
            </a:pPr>
            <a:r>
              <a:rPr lang="en-US" sz="3400" b="1" dirty="0">
                <a:solidFill>
                  <a:srgbClr val="14171C"/>
                </a:solidFill>
                <a:latin typeface="Century Gothic" pitchFamily="34" charset="0"/>
                <a:ea typeface="Century Gothic" pitchFamily="34" charset="-122"/>
                <a:cs typeface="Century Gothic" pitchFamily="34" charset="-120"/>
              </a:rPr>
              <a:t>Every feature had to earn its place</a:t>
            </a:r>
            <a:endParaRPr lang="en-US" sz="3400" dirty="0"/>
          </a:p>
        </p:txBody>
      </p:sp>
      <p:graphicFrame>
        <p:nvGraphicFramePr>
          <p:cNvPr id="4" name="ablation chart" descr=""/>
          <p:cNvGraphicFramePr/>
          <p:nvPr/>
        </p:nvGraphicFramePr>
        <p:xfrm>
          <a:off x="548640" y="1783080"/>
          <a:ext cx="7589520" cy="4160520"/>
        </p:xfrm>
        <a:graphic xmlns:a="http://schemas.openxmlformats.org/drawingml/2006/main">
          <a:graphicData uri="http://schemas.openxmlformats.org/drawingml/2006/chart">
            <c:chart xmlns:c="http://schemas.openxmlformats.org/drawingml/2006/chart" r:id="rId1"/>
          </a:graphicData>
        </a:graphic>
      </p:graphicFrame>
      <p:sp>
        <p:nvSpPr>
          <p:cNvPr id="5" name="callout 1"/>
          <p:cNvSpPr/>
          <p:nvPr/>
        </p:nvSpPr>
        <p:spPr>
          <a:xfrm>
            <a:off x="8549640" y="1874520"/>
            <a:ext cx="3093415" cy="1783080"/>
          </a:xfrm>
          <a:prstGeom prst="roundRect">
            <a:avLst>
              <a:gd name="adj" fmla="val 5128"/>
            </a:avLst>
          </a:prstGeom>
          <a:solidFill>
            <a:srgbClr val="FFFFFF"/>
          </a:solidFill>
          <a:ln w="9525">
            <a:solidFill>
              <a:srgbClr val="D9DDE3"/>
            </a:solidFill>
            <a:prstDash val="solid"/>
          </a:ln>
          <a:effectLst>
            <a:outerShdw sx="100000" sy="100000" kx="0" ky="0" algn="bl" rotWithShape="0" blurRad="101600" dist="25400" dir="5400000">
              <a:srgbClr val="000000">
                <a:alpha val="8000"/>
              </a:srgbClr>
            </a:outerShdw>
          </a:effectLst>
        </p:spPr>
      </p:sp>
      <p:sp>
        <p:nvSpPr>
          <p:cNvPr id="6" name="Text 3"/>
          <p:cNvSpPr txBox="1"/>
          <p:nvPr/>
        </p:nvSpPr>
        <p:spPr>
          <a:xfrm>
            <a:off x="8823960" y="2103120"/>
            <a:ext cx="2544775" cy="640080"/>
          </a:xfrm>
          <a:prstGeom prst="rect">
            <a:avLst/>
          </a:prstGeom>
          <a:noFill/>
          <a:ln/>
        </p:spPr>
        <p:txBody>
          <a:bodyPr wrap="square" lIns="0" tIns="0" rIns="0" bIns="0" rtlCol="0" anchor="ctr"/>
          <a:lstStyle/>
          <a:p>
            <a:pPr indent="0" marL="0">
              <a:buNone/>
            </a:pPr>
            <a:r>
              <a:rPr lang="en-US" sz="3200" b="1" dirty="0">
                <a:solidFill>
                  <a:srgbClr val="14171C"/>
                </a:solidFill>
                <a:latin typeface="Century Gothic" pitchFamily="34" charset="0"/>
                <a:ea typeface="Century Gothic" pitchFamily="34" charset="-122"/>
                <a:cs typeface="Century Gothic" pitchFamily="34" charset="-120"/>
              </a:rPr>
              <a:t>48–0–0</a:t>
            </a:r>
            <a:endParaRPr lang="en-US" sz="3200" dirty="0"/>
          </a:p>
        </p:txBody>
      </p:sp>
      <p:sp>
        <p:nvSpPr>
          <p:cNvPr id="7" name="Text 4"/>
          <p:cNvSpPr txBox="1"/>
          <p:nvPr/>
        </p:nvSpPr>
        <p:spPr>
          <a:xfrm>
            <a:off x="8823960" y="2788920"/>
            <a:ext cx="2544775" cy="731520"/>
          </a:xfrm>
          <a:prstGeom prst="rect">
            <a:avLst/>
          </a:prstGeom>
          <a:noFill/>
          <a:ln/>
        </p:spPr>
        <p:txBody>
          <a:bodyPr wrap="square" lIns="0" tIns="0" rIns="0" bIns="0" rtlCol="0" anchor="t"/>
          <a:lstStyle/>
          <a:p>
            <a:pPr indent="0" marL="0">
              <a:buNone/>
            </a:pPr>
            <a:r>
              <a:rPr lang="en-US" sz="1400" dirty="0">
                <a:solidFill>
                  <a:srgbClr val="4A5260"/>
                </a:solidFill>
                <a:latin typeface="Calibri" pitchFamily="34" charset="0"/>
                <a:ea typeface="Calibri" pitchFamily="34" charset="-122"/>
                <a:cs typeface="Calibri" pitchFamily="34" charset="-120"/>
              </a:rPr>
              <a:t>pipeline vs one-shot, head-to-head on beta (gamma: 46–1–1)</a:t>
            </a:r>
            <a:endParaRPr lang="en-US" sz="1400" dirty="0"/>
          </a:p>
        </p:txBody>
      </p:sp>
      <p:sp>
        <p:nvSpPr>
          <p:cNvPr id="8" name="callout 2"/>
          <p:cNvSpPr/>
          <p:nvPr/>
        </p:nvSpPr>
        <p:spPr>
          <a:xfrm>
            <a:off x="8549640" y="3886200"/>
            <a:ext cx="3093415" cy="1783080"/>
          </a:xfrm>
          <a:prstGeom prst="roundRect">
            <a:avLst>
              <a:gd name="adj" fmla="val 5128"/>
            </a:avLst>
          </a:prstGeom>
          <a:solidFill>
            <a:srgbClr val="FFFFFF"/>
          </a:solidFill>
          <a:ln w="9525">
            <a:solidFill>
              <a:srgbClr val="D9DDE3"/>
            </a:solidFill>
            <a:prstDash val="solid"/>
          </a:ln>
          <a:effectLst>
            <a:outerShdw sx="100000" sy="100000" kx="0" ky="0" algn="bl" rotWithShape="0" blurRad="101600" dist="25400" dir="5400000">
              <a:srgbClr val="000000">
                <a:alpha val="8000"/>
              </a:srgbClr>
            </a:outerShdw>
          </a:effectLst>
        </p:spPr>
      </p:sp>
      <p:sp>
        <p:nvSpPr>
          <p:cNvPr id="9" name="Text 6"/>
          <p:cNvSpPr txBox="1"/>
          <p:nvPr/>
        </p:nvSpPr>
        <p:spPr>
          <a:xfrm>
            <a:off x="8823960" y="4114800"/>
            <a:ext cx="2544775" cy="640080"/>
          </a:xfrm>
          <a:prstGeom prst="rect">
            <a:avLst/>
          </a:prstGeom>
          <a:noFill/>
          <a:ln/>
        </p:spPr>
        <p:txBody>
          <a:bodyPr wrap="square" lIns="0" tIns="0" rIns="0" bIns="0" rtlCol="0" anchor="ctr"/>
          <a:lstStyle/>
          <a:p>
            <a:pPr indent="0" marL="0">
              <a:buNone/>
            </a:pPr>
            <a:r>
              <a:rPr lang="en-US" sz="3200" b="1" dirty="0">
                <a:solidFill>
                  <a:srgbClr val="14171C"/>
                </a:solidFill>
                <a:latin typeface="Century Gothic" pitchFamily="34" charset="0"/>
                <a:ea typeface="Century Gothic" pitchFamily="34" charset="-122"/>
                <a:cs typeface="Century Gothic" pitchFamily="34" charset="-120"/>
              </a:rPr>
              <a:t>2 of 3</a:t>
            </a:r>
            <a:endParaRPr lang="en-US" sz="3200" dirty="0"/>
          </a:p>
        </p:txBody>
      </p:sp>
      <p:sp>
        <p:nvSpPr>
          <p:cNvPr id="10" name="Text 7"/>
          <p:cNvSpPr txBox="1"/>
          <p:nvPr/>
        </p:nvSpPr>
        <p:spPr>
          <a:xfrm>
            <a:off x="8823960" y="4800600"/>
            <a:ext cx="2544775" cy="731520"/>
          </a:xfrm>
          <a:prstGeom prst="rect">
            <a:avLst/>
          </a:prstGeom>
          <a:noFill/>
          <a:ln/>
        </p:spPr>
        <p:txBody>
          <a:bodyPr wrap="square" lIns="0" tIns="0" rIns="0" bIns="0" rtlCol="0" anchor="t"/>
          <a:lstStyle/>
          <a:p>
            <a:pPr indent="0" marL="0">
              <a:buNone/>
            </a:pPr>
            <a:r>
              <a:rPr lang="en-US" sz="1400" dirty="0">
                <a:solidFill>
                  <a:srgbClr val="4A5260"/>
                </a:solidFill>
                <a:latin typeface="Calibri" pitchFamily="34" charset="0"/>
                <a:ea typeface="Calibri" pitchFamily="34" charset="-122"/>
                <a:cs typeface="Calibri" pitchFamily="34" charset="-120"/>
              </a:rPr>
              <a:t>games lost by each feature we tried to remove in epoch 2</a:t>
            </a:r>
            <a:endParaRPr lang="en-US" sz="1400" dirty="0"/>
          </a:p>
        </p:txBody>
      </p:sp>
      <p:sp>
        <p:nvSpPr>
          <p:cNvPr id="11" name="Text 8"/>
          <p:cNvSpPr txBox="1"/>
          <p:nvPr/>
        </p:nvSpPr>
        <p:spPr>
          <a:xfrm>
            <a:off x="548640" y="6035040"/>
            <a:ext cx="10424160" cy="320040"/>
          </a:xfrm>
          <a:prstGeom prst="rect">
            <a:avLst/>
          </a:prstGeom>
          <a:noFill/>
          <a:ln/>
        </p:spPr>
        <p:txBody>
          <a:bodyPr wrap="square" lIns="0" tIns="0" rIns="0" bIns="0" rtlCol="0" anchor="ctr"/>
          <a:lstStyle/>
          <a:p>
            <a:pPr indent="0" marL="0">
              <a:buNone/>
            </a:pPr>
            <a:r>
              <a:rPr lang="en-US" sz="1100" dirty="0">
                <a:solidFill>
                  <a:srgbClr val="6B7380"/>
                </a:solidFill>
                <a:latin typeface="Calibri" pitchFamily="34" charset="0"/>
                <a:ea typeface="Calibri" pitchFamily="34" charset="-122"/>
                <a:cs typeface="Calibri" pitchFamily="34" charset="-120"/>
              </a:rPr>
              <a:t>Net points per strategy (win +1, draw 0, loss −1 per match), summed over 3 games: cross-tournament of the variants, both seats, 6 seeds.</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3A2010"/>
                </a:solidFill>
                <a:latin typeface="Consolas" pitchFamily="34" charset="0"/>
                <a:ea typeface="Consolas" pitchFamily="34" charset="-122"/>
                <a:cs typeface="Consolas" pitchFamily="34" charset="-120"/>
              </a:rPr>
              <a:t>THE EXAM</a:t>
            </a:r>
            <a:endParaRPr lang="en-US" sz="1200" dirty="0"/>
          </a:p>
        </p:txBody>
      </p:sp>
      <p:sp>
        <p:nvSpPr>
          <p:cNvPr id="3" name="Text 0"/>
          <p:cNvSpPr/>
          <p:nvPr>
            <p:ph idx="100" type="title" hasCustomPrompt="1"/>
          </p:nvPr>
        </p:nvSpPr>
        <p:spPr>
          <a:xfrm>
            <a:off x="548640" y="713232"/>
            <a:ext cx="11094415" cy="822960"/>
          </a:xfrm>
          <a:prstGeom prst="rect">
            <a:avLst/>
          </a:prstGeom>
          <a:noFill/>
          <a:ln/>
        </p:spPr>
        <p:txBody>
          <a:bodyPr wrap="square" lIns="0" tIns="0" rIns="0" bIns="0" rtlCol="0" anchor="t"/>
          <a:lstStyle/>
          <a:p>
            <a:pPr algn="l" indent="0" marL="0">
              <a:buNone/>
            </a:pPr>
            <a:r>
              <a:rPr lang="en-US" sz="3400" b="1" dirty="0">
                <a:solidFill>
                  <a:srgbClr val="0F1218"/>
                </a:solidFill>
                <a:latin typeface="Century Gothic" pitchFamily="34" charset="0"/>
                <a:ea typeface="Century Gothic" pitchFamily="34" charset="-122"/>
                <a:cs typeface="Century Gothic" pitchFamily="34" charset="-120"/>
              </a:rPr>
              <a:t>It transfers to games it was never tuned on</a:t>
            </a:r>
            <a:endParaRPr lang="en-US" sz="3400" dirty="0"/>
          </a:p>
        </p:txBody>
      </p:sp>
      <p:sp>
        <p:nvSpPr>
          <p:cNvPr id="4" name="Text 2"/>
          <p:cNvSpPr txBox="1"/>
          <p:nvPr/>
        </p:nvSpPr>
        <p:spPr>
          <a:xfrm>
            <a:off x="548640" y="2331720"/>
            <a:ext cx="3520440" cy="1097280"/>
          </a:xfrm>
          <a:prstGeom prst="rect">
            <a:avLst/>
          </a:prstGeom>
          <a:noFill/>
          <a:ln/>
        </p:spPr>
        <p:txBody>
          <a:bodyPr wrap="square" lIns="0" tIns="0" rIns="0" bIns="0" rtlCol="0" anchor="ctr"/>
          <a:lstStyle/>
          <a:p>
            <a:pPr indent="0" marL="0">
              <a:buNone/>
            </a:pPr>
            <a:r>
              <a:rPr lang="en-US" sz="5600" b="1" dirty="0">
                <a:solidFill>
                  <a:srgbClr val="0F1218"/>
                </a:solidFill>
                <a:latin typeface="Century Gothic" pitchFamily="34" charset="0"/>
                <a:ea typeface="Century Gothic" pitchFamily="34" charset="-122"/>
                <a:cs typeface="Century Gothic" pitchFamily="34" charset="-120"/>
              </a:rPr>
              <a:t>44–1–3</a:t>
            </a:r>
            <a:endParaRPr lang="en-US" sz="5600" dirty="0"/>
          </a:p>
        </p:txBody>
      </p:sp>
      <p:sp>
        <p:nvSpPr>
          <p:cNvPr id="5" name="Shape 3"/>
          <p:cNvSpPr/>
          <p:nvPr/>
        </p:nvSpPr>
        <p:spPr>
          <a:xfrm>
            <a:off x="548640" y="3611880"/>
            <a:ext cx="1097280" cy="0"/>
          </a:xfrm>
          <a:prstGeom prst="line">
            <a:avLst/>
          </a:prstGeom>
          <a:noFill/>
          <a:ln w="25400">
            <a:solidFill>
              <a:srgbClr val="0F1218"/>
            </a:solidFill>
            <a:prstDash val="solid"/>
          </a:ln>
        </p:spPr>
      </p:sp>
      <p:sp>
        <p:nvSpPr>
          <p:cNvPr id="6" name="Text 4"/>
          <p:cNvSpPr txBox="1"/>
          <p:nvPr/>
        </p:nvSpPr>
        <p:spPr>
          <a:xfrm>
            <a:off x="548640" y="3840480"/>
            <a:ext cx="3337560" cy="1188720"/>
          </a:xfrm>
          <a:prstGeom prst="rect">
            <a:avLst/>
          </a:prstGeom>
          <a:noFill/>
          <a:ln/>
        </p:spPr>
        <p:txBody>
          <a:bodyPr wrap="square" lIns="0" tIns="0" rIns="0" bIns="0" rtlCol="0" anchor="t"/>
          <a:lstStyle/>
          <a:p>
            <a:pPr indent="0" marL="0">
              <a:buNone/>
            </a:pPr>
            <a:r>
              <a:rPr lang="en-US" sz="1800" dirty="0">
                <a:solidFill>
                  <a:srgbClr val="2A1408"/>
                </a:solidFill>
                <a:latin typeface="Calibri" pitchFamily="34" charset="0"/>
                <a:ea typeface="Calibri" pitchFamily="34" charset="-122"/>
                <a:cs typeface="Calibri" pitchFamily="34" charset="-120"/>
              </a:rPr>
              <a:t>vs one-shot on a held-out game with hidden demand, random surges and typed units</a:t>
            </a:r>
            <a:endParaRPr lang="en-US" sz="1800" dirty="0"/>
          </a:p>
        </p:txBody>
      </p:sp>
      <p:sp>
        <p:nvSpPr>
          <p:cNvPr id="7" name="Text 5"/>
          <p:cNvSpPr txBox="1"/>
          <p:nvPr/>
        </p:nvSpPr>
        <p:spPr>
          <a:xfrm>
            <a:off x="4343400" y="2331720"/>
            <a:ext cx="3520440" cy="1097280"/>
          </a:xfrm>
          <a:prstGeom prst="rect">
            <a:avLst/>
          </a:prstGeom>
          <a:noFill/>
          <a:ln/>
        </p:spPr>
        <p:txBody>
          <a:bodyPr wrap="square" lIns="0" tIns="0" rIns="0" bIns="0" rtlCol="0" anchor="ctr"/>
          <a:lstStyle/>
          <a:p>
            <a:pPr indent="0" marL="0">
              <a:buNone/>
            </a:pPr>
            <a:r>
              <a:rPr lang="en-US" sz="5600" b="1" dirty="0">
                <a:solidFill>
                  <a:srgbClr val="0F1218"/>
                </a:solidFill>
                <a:latin typeface="Century Gothic" pitchFamily="34" charset="0"/>
                <a:ea typeface="Century Gothic" pitchFamily="34" charset="-122"/>
                <a:cs typeface="Century Gothic" pitchFamily="34" charset="-120"/>
              </a:rPr>
              <a:t>32–0–16</a:t>
            </a:r>
            <a:endParaRPr lang="en-US" sz="5600" dirty="0"/>
          </a:p>
        </p:txBody>
      </p:sp>
      <p:sp>
        <p:nvSpPr>
          <p:cNvPr id="8" name="Shape 6"/>
          <p:cNvSpPr/>
          <p:nvPr/>
        </p:nvSpPr>
        <p:spPr>
          <a:xfrm>
            <a:off x="4343400" y="3611880"/>
            <a:ext cx="1097280" cy="0"/>
          </a:xfrm>
          <a:prstGeom prst="line">
            <a:avLst/>
          </a:prstGeom>
          <a:noFill/>
          <a:ln w="25400">
            <a:solidFill>
              <a:srgbClr val="0F1218"/>
            </a:solidFill>
            <a:prstDash val="solid"/>
          </a:ln>
        </p:spPr>
      </p:sp>
      <p:sp>
        <p:nvSpPr>
          <p:cNvPr id="9" name="Text 7"/>
          <p:cNvSpPr txBox="1"/>
          <p:nvPr/>
        </p:nvSpPr>
        <p:spPr>
          <a:xfrm>
            <a:off x="4343400" y="3840480"/>
            <a:ext cx="3337560" cy="1188720"/>
          </a:xfrm>
          <a:prstGeom prst="rect">
            <a:avLst/>
          </a:prstGeom>
          <a:noFill/>
          <a:ln/>
        </p:spPr>
        <p:txBody>
          <a:bodyPr wrap="square" lIns="0" tIns="0" rIns="0" bIns="0" rtlCol="0" anchor="t"/>
          <a:lstStyle/>
          <a:p>
            <a:pPr indent="0" marL="0">
              <a:buNone/>
            </a:pPr>
            <a:r>
              <a:rPr lang="en-US" sz="1800" dirty="0">
                <a:solidFill>
                  <a:srgbClr val="2A1408"/>
                </a:solidFill>
                <a:latin typeface="Calibri" pitchFamily="34" charset="0"/>
                <a:ea typeface="Calibri" pitchFamily="34" charset="-122"/>
                <a:cs typeface="Calibri" pitchFamily="34" charset="-120"/>
              </a:rPr>
              <a:t>on a held-out game with renamed fields and nested-dict actions</a:t>
            </a:r>
            <a:endParaRPr lang="en-US" sz="1800" dirty="0"/>
          </a:p>
        </p:txBody>
      </p:sp>
      <p:sp>
        <p:nvSpPr>
          <p:cNvPr id="10" name="Text 8"/>
          <p:cNvSpPr txBox="1"/>
          <p:nvPr/>
        </p:nvSpPr>
        <p:spPr>
          <a:xfrm>
            <a:off x="8138160" y="2331720"/>
            <a:ext cx="3520440" cy="1097280"/>
          </a:xfrm>
          <a:prstGeom prst="rect">
            <a:avLst/>
          </a:prstGeom>
          <a:noFill/>
          <a:ln/>
        </p:spPr>
        <p:txBody>
          <a:bodyPr wrap="square" lIns="0" tIns="0" rIns="0" bIns="0" rtlCol="0" anchor="ctr"/>
          <a:lstStyle/>
          <a:p>
            <a:pPr indent="0" marL="0">
              <a:buNone/>
            </a:pPr>
            <a:r>
              <a:rPr lang="en-US" sz="5600" b="1" dirty="0">
                <a:solidFill>
                  <a:srgbClr val="0F1218"/>
                </a:solidFill>
                <a:latin typeface="Century Gothic" pitchFamily="34" charset="0"/>
                <a:ea typeface="Century Gothic" pitchFamily="34" charset="-122"/>
                <a:cs typeface="Century Gothic" pitchFamily="34" charset="-120"/>
              </a:rPr>
              <a:t>53 / 53</a:t>
            </a:r>
            <a:endParaRPr lang="en-US" sz="5600" dirty="0"/>
          </a:p>
        </p:txBody>
      </p:sp>
      <p:sp>
        <p:nvSpPr>
          <p:cNvPr id="11" name="Shape 9"/>
          <p:cNvSpPr/>
          <p:nvPr/>
        </p:nvSpPr>
        <p:spPr>
          <a:xfrm>
            <a:off x="8138160" y="3611880"/>
            <a:ext cx="1097280" cy="0"/>
          </a:xfrm>
          <a:prstGeom prst="line">
            <a:avLst/>
          </a:prstGeom>
          <a:noFill/>
          <a:ln w="25400">
            <a:solidFill>
              <a:srgbClr val="0F1218"/>
            </a:solidFill>
            <a:prstDash val="solid"/>
          </a:ln>
        </p:spPr>
      </p:sp>
      <p:sp>
        <p:nvSpPr>
          <p:cNvPr id="12" name="Text 10"/>
          <p:cNvSpPr txBox="1"/>
          <p:nvPr/>
        </p:nvSpPr>
        <p:spPr>
          <a:xfrm>
            <a:off x="8138160" y="3840480"/>
            <a:ext cx="3337560" cy="1188720"/>
          </a:xfrm>
          <a:prstGeom prst="rect">
            <a:avLst/>
          </a:prstGeom>
          <a:noFill/>
          <a:ln/>
        </p:spPr>
        <p:txBody>
          <a:bodyPr wrap="square" lIns="0" tIns="0" rIns="0" bIns="0" rtlCol="0" anchor="t"/>
          <a:lstStyle/>
          <a:p>
            <a:pPr indent="0" marL="0">
              <a:buNone/>
            </a:pPr>
            <a:r>
              <a:rPr lang="en-US" sz="1800" dirty="0">
                <a:solidFill>
                  <a:srgbClr val="2A1408"/>
                </a:solidFill>
                <a:latin typeface="Calibri" pitchFamily="34" charset="0"/>
                <a:ea typeface="Calibri" pitchFamily="34" charset="-122"/>
                <a:cs typeface="Calibri" pitchFamily="34" charset="-120"/>
              </a:rPr>
              <a:t>delivered strategies pass the arena conformance check: zero forfeits</a:t>
            </a:r>
            <a:endParaRPr lang="en-US" sz="1800" dirty="0"/>
          </a:p>
        </p:txBody>
      </p:sp>
      <p:sp>
        <p:nvSpPr>
          <p:cNvPr id="13" name="Text 11"/>
          <p:cNvSpPr txBox="1"/>
          <p:nvPr/>
        </p:nvSpPr>
        <p:spPr>
          <a:xfrm>
            <a:off x="548640" y="5760720"/>
            <a:ext cx="10515600" cy="365760"/>
          </a:xfrm>
          <a:prstGeom prst="rect">
            <a:avLst/>
          </a:prstGeom>
          <a:noFill/>
          <a:ln/>
        </p:spPr>
        <p:txBody>
          <a:bodyPr wrap="square" lIns="0" tIns="0" rIns="0" bIns="0" rtlCol="0" anchor="ctr"/>
          <a:lstStyle/>
          <a:p>
            <a:pPr indent="0" marL="0">
              <a:buNone/>
            </a:pPr>
            <a:r>
              <a:rPr lang="en-US" sz="1400" dirty="0">
                <a:solidFill>
                  <a:srgbClr val="2A1408"/>
                </a:solidFill>
                <a:latin typeface="Calibri" pitchFamily="34" charset="0"/>
                <a:ea typeface="Calibri" pitchFamily="34" charset="-122"/>
                <a:cs typeface="Calibri" pitchFamily="34" charset="-120"/>
              </a:rPr>
              <a:t>Task C check (sol + astra, 15 min): 100% of matches won against the baselines.</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3A2010"/>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48640" y="384048"/>
            <a:ext cx="7315200" cy="274320"/>
          </a:xfrm>
          <a:prstGeom prst="rect">
            <a:avLst/>
          </a:prstGeom>
          <a:noFill/>
          <a:ln/>
        </p:spPr>
        <p:txBody>
          <a:bodyPr wrap="square" lIns="0" tIns="0" rIns="0" bIns="0" rtlCol="0" anchor="ctr"/>
          <a:lstStyle/>
          <a:p>
            <a:pPr indent="0" marL="0">
              <a:buNone/>
            </a:pPr>
            <a:r>
              <a:rPr lang="en-US" sz="1200" b="1" spc="300" kern="0" dirty="0">
                <a:solidFill>
                  <a:srgbClr val="FF7A33"/>
                </a:solidFill>
                <a:latin typeface="Consolas" pitchFamily="34" charset="0"/>
                <a:ea typeface="Consolas" pitchFamily="34" charset="-122"/>
                <a:cs typeface="Consolas" pitchFamily="34" charset="-120"/>
              </a:rPr>
              <a:t>DEMO · ONE REAL RUN</a:t>
            </a:r>
            <a:endParaRPr lang="en-US" sz="1200" dirty="0"/>
          </a:p>
        </p:txBody>
      </p:sp>
      <p:sp>
        <p:nvSpPr>
          <p:cNvPr id="3" name="Text 0"/>
          <p:cNvSpPr/>
          <p:nvPr>
            <p:ph idx="100" type="title" hasCustomPrompt="1"/>
          </p:nvPr>
        </p:nvSpPr>
        <p:spPr>
          <a:xfrm>
            <a:off x="548640" y="713232"/>
            <a:ext cx="11094415" cy="822960"/>
          </a:xfrm>
          <a:prstGeom prst="rect">
            <a:avLst/>
          </a:prstGeom>
          <a:noFill/>
          <a:ln/>
        </p:spPr>
        <p:txBody>
          <a:bodyPr wrap="square" lIns="0" tIns="0" rIns="0" bIns="0" rtlCol="0" anchor="t"/>
          <a:lstStyle/>
          <a:p>
            <a:pPr algn="l" indent="0" marL="0">
              <a:buNone/>
            </a:pPr>
            <a:r>
              <a:rPr lang="en-US" sz="3400" b="1" dirty="0">
                <a:solidFill>
                  <a:srgbClr val="F3F0E8"/>
                </a:solidFill>
                <a:latin typeface="Century Gothic" pitchFamily="34" charset="0"/>
                <a:ea typeface="Century Gothic" pitchFamily="34" charset="-122"/>
                <a:cs typeface="Century Gothic" pitchFamily="34" charset="-120"/>
              </a:rPr>
              <a:t>141 seconds, 1.8 cents, one champion</a:t>
            </a:r>
            <a:endParaRPr lang="en-US" sz="3400" dirty="0"/>
          </a:p>
        </p:txBody>
      </p:sp>
      <p:sp>
        <p:nvSpPr>
          <p:cNvPr id="4" name="axis"/>
          <p:cNvSpPr/>
          <p:nvPr/>
        </p:nvSpPr>
        <p:spPr>
          <a:xfrm>
            <a:off x="822960" y="3337560"/>
            <a:ext cx="10515600" cy="91440"/>
          </a:xfrm>
          <a:prstGeom prst="roundRect">
            <a:avLst>
              <a:gd name="adj" fmla="val 50000"/>
            </a:avLst>
          </a:prstGeom>
          <a:solidFill>
            <a:srgbClr val="2A313C"/>
          </a:solidFill>
          <a:ln w="12700">
            <a:solidFill>
              <a:srgbClr val="2A313C"/>
            </a:solidFill>
            <a:prstDash val="solid"/>
          </a:ln>
        </p:spPr>
      </p:sp>
      <p:sp>
        <p:nvSpPr>
          <p:cNvPr id="5" name="progress"/>
          <p:cNvSpPr/>
          <p:nvPr/>
        </p:nvSpPr>
        <p:spPr>
          <a:xfrm>
            <a:off x="822960" y="3337560"/>
            <a:ext cx="8237220" cy="91440"/>
          </a:xfrm>
          <a:prstGeom prst="roundRect">
            <a:avLst>
              <a:gd name="adj" fmla="val 50000"/>
            </a:avLst>
          </a:prstGeom>
          <a:solidFill>
            <a:srgbClr val="FF7A33"/>
          </a:solidFill>
          <a:ln w="12700">
            <a:solidFill>
              <a:srgbClr val="FF7A33"/>
            </a:solidFill>
            <a:prstDash val="solid"/>
          </a:ln>
        </p:spPr>
      </p:sp>
      <p:sp>
        <p:nvSpPr>
          <p:cNvPr id="6" name="Text 4"/>
          <p:cNvSpPr txBox="1"/>
          <p:nvPr/>
        </p:nvSpPr>
        <p:spPr>
          <a:xfrm>
            <a:off x="548640" y="3566160"/>
            <a:ext cx="548640" cy="274320"/>
          </a:xfrm>
          <a:prstGeom prst="rect">
            <a:avLst/>
          </a:prstGeom>
          <a:noFill/>
          <a:ln/>
        </p:spPr>
        <p:txBody>
          <a:bodyPr wrap="square" lIns="0" tIns="0" rIns="0" bIns="0" rtlCol="0" anchor="ctr"/>
          <a:lstStyle/>
          <a:p>
            <a:pPr algn="ctr" indent="0" marL="0">
              <a:buNone/>
            </a:pPr>
            <a:r>
              <a:rPr lang="en-US" sz="1200" dirty="0">
                <a:solidFill>
                  <a:srgbClr val="7D8694"/>
                </a:solidFill>
                <a:latin typeface="Consolas" pitchFamily="34" charset="0"/>
                <a:ea typeface="Consolas" pitchFamily="34" charset="-122"/>
                <a:cs typeface="Consolas" pitchFamily="34" charset="-120"/>
              </a:rPr>
              <a:t>0 s</a:t>
            </a:r>
            <a:endParaRPr lang="en-US" sz="1200" dirty="0"/>
          </a:p>
        </p:txBody>
      </p:sp>
      <p:sp>
        <p:nvSpPr>
          <p:cNvPr id="7" name="Text 5"/>
          <p:cNvSpPr txBox="1"/>
          <p:nvPr/>
        </p:nvSpPr>
        <p:spPr>
          <a:xfrm>
            <a:off x="9692640" y="3566160"/>
            <a:ext cx="1645920" cy="274320"/>
          </a:xfrm>
          <a:prstGeom prst="rect">
            <a:avLst/>
          </a:prstGeom>
          <a:noFill/>
          <a:ln/>
        </p:spPr>
        <p:txBody>
          <a:bodyPr wrap="square" lIns="0" tIns="0" rIns="0" bIns="0" rtlCol="0" anchor="ctr"/>
          <a:lstStyle/>
          <a:p>
            <a:pPr algn="r" indent="0" marL="0">
              <a:buNone/>
            </a:pPr>
            <a:r>
              <a:rPr lang="en-US" sz="1200" dirty="0">
                <a:solidFill>
                  <a:srgbClr val="7D8694"/>
                </a:solidFill>
                <a:latin typeface="Consolas" pitchFamily="34" charset="0"/>
                <a:ea typeface="Consolas" pitchFamily="34" charset="-122"/>
                <a:cs typeface="Consolas" pitchFamily="34" charset="-120"/>
              </a:rPr>
              <a:t>deadline 180 s</a:t>
            </a:r>
            <a:endParaRPr lang="en-US" sz="1200" dirty="0"/>
          </a:p>
        </p:txBody>
      </p:sp>
      <p:sp>
        <p:nvSpPr>
          <p:cNvPr id="8" name="event 24"/>
          <p:cNvSpPr/>
          <p:nvPr/>
        </p:nvSpPr>
        <p:spPr>
          <a:xfrm>
            <a:off x="2124456" y="3282696"/>
            <a:ext cx="201168" cy="201168"/>
          </a:xfrm>
          <a:prstGeom prst="ellipse">
            <a:avLst/>
          </a:prstGeom>
          <a:solidFill>
            <a:srgbClr val="FF7A33"/>
          </a:solidFill>
          <a:ln w="25400">
            <a:solidFill>
              <a:srgbClr val="FF7A33"/>
            </a:solidFill>
            <a:prstDash val="solid"/>
          </a:ln>
        </p:spPr>
      </p:sp>
      <p:sp>
        <p:nvSpPr>
          <p:cNvPr id="9" name="Text 7"/>
          <p:cNvSpPr txBox="1"/>
          <p:nvPr/>
        </p:nvSpPr>
        <p:spPr>
          <a:xfrm>
            <a:off x="2124456" y="2240280"/>
            <a:ext cx="1097280" cy="292608"/>
          </a:xfrm>
          <a:prstGeom prst="rect">
            <a:avLst/>
          </a:prstGeom>
          <a:noFill/>
          <a:ln/>
        </p:spPr>
        <p:txBody>
          <a:bodyPr wrap="square" lIns="0" tIns="0" rIns="0" bIns="0" rtlCol="0" anchor="ctr"/>
          <a:lstStyle/>
          <a:p>
            <a:pPr indent="0" marL="0">
              <a:buNone/>
            </a:pPr>
            <a:r>
              <a:rPr lang="en-US" sz="1400" b="1" dirty="0">
                <a:solidFill>
                  <a:srgbClr val="FF7A33"/>
                </a:solidFill>
                <a:latin typeface="Consolas" pitchFamily="34" charset="0"/>
                <a:ea typeface="Consolas" pitchFamily="34" charset="-122"/>
                <a:cs typeface="Consolas" pitchFamily="34" charset="-120"/>
              </a:rPr>
              <a:t>24 s</a:t>
            </a:r>
            <a:endParaRPr lang="en-US" sz="1400" dirty="0"/>
          </a:p>
        </p:txBody>
      </p:sp>
      <p:sp>
        <p:nvSpPr>
          <p:cNvPr id="10" name="Text 8"/>
          <p:cNvSpPr txBox="1"/>
          <p:nvPr/>
        </p:nvSpPr>
        <p:spPr>
          <a:xfrm>
            <a:off x="2124456" y="2551176"/>
            <a:ext cx="2148840" cy="548640"/>
          </a:xfrm>
          <a:prstGeom prst="rect">
            <a:avLst/>
          </a:prstGeom>
          <a:noFill/>
          <a:ln/>
        </p:spPr>
        <p:txBody>
          <a:bodyPr wrap="square" lIns="0" tIns="0" rIns="0" bIns="0" rtlCol="0" anchor="t"/>
          <a:lstStyle/>
          <a:p>
            <a:pPr indent="0" marL="0">
              <a:buNone/>
            </a:pPr>
            <a:r>
              <a:rPr lang="en-US" sz="1400" dirty="0">
                <a:solidFill>
                  <a:srgbClr val="F3F0E8"/>
                </a:solidFill>
                <a:latin typeface="Calibri" pitchFamily="34" charset="0"/>
                <a:ea typeface="Calibri" pitchFamily="34" charset="-122"/>
                <a:cs typeface="Calibri" pitchFamily="34" charset="-120"/>
              </a:rPr>
              <a:t>First valid draft takes the lead</a:t>
            </a:r>
            <a:endParaRPr lang="en-US" sz="1400" dirty="0"/>
          </a:p>
        </p:txBody>
      </p:sp>
      <p:sp>
        <p:nvSpPr>
          <p:cNvPr id="11" name="event 35"/>
          <p:cNvSpPr/>
          <p:nvPr/>
        </p:nvSpPr>
        <p:spPr>
          <a:xfrm>
            <a:off x="2767076" y="3282696"/>
            <a:ext cx="201168" cy="201168"/>
          </a:xfrm>
          <a:prstGeom prst="ellipse">
            <a:avLst/>
          </a:prstGeom>
          <a:solidFill>
            <a:srgbClr val="0F1218"/>
          </a:solidFill>
          <a:ln w="25400">
            <a:solidFill>
              <a:srgbClr val="FF7A33"/>
            </a:solidFill>
            <a:prstDash val="solid"/>
          </a:ln>
        </p:spPr>
      </p:sp>
      <p:sp>
        <p:nvSpPr>
          <p:cNvPr id="12" name="Text 10"/>
          <p:cNvSpPr txBox="1"/>
          <p:nvPr/>
        </p:nvSpPr>
        <p:spPr>
          <a:xfrm>
            <a:off x="2767076" y="3886200"/>
            <a:ext cx="1097280" cy="292608"/>
          </a:xfrm>
          <a:prstGeom prst="rect">
            <a:avLst/>
          </a:prstGeom>
          <a:noFill/>
          <a:ln/>
        </p:spPr>
        <p:txBody>
          <a:bodyPr wrap="square" lIns="0" tIns="0" rIns="0" bIns="0" rtlCol="0" anchor="ctr"/>
          <a:lstStyle/>
          <a:p>
            <a:pPr indent="0" marL="0">
              <a:buNone/>
            </a:pPr>
            <a:r>
              <a:rPr lang="en-US" sz="1400" b="1" dirty="0">
                <a:solidFill>
                  <a:srgbClr val="FF7A33"/>
                </a:solidFill>
                <a:latin typeface="Consolas" pitchFamily="34" charset="0"/>
                <a:ea typeface="Consolas" pitchFamily="34" charset="-122"/>
                <a:cs typeface="Consolas" pitchFamily="34" charset="-120"/>
              </a:rPr>
              <a:t>35 s</a:t>
            </a:r>
            <a:endParaRPr lang="en-US" sz="1400" dirty="0"/>
          </a:p>
        </p:txBody>
      </p:sp>
      <p:sp>
        <p:nvSpPr>
          <p:cNvPr id="13" name="Text 11"/>
          <p:cNvSpPr txBox="1"/>
          <p:nvPr/>
        </p:nvSpPr>
        <p:spPr>
          <a:xfrm>
            <a:off x="2767076" y="4197096"/>
            <a:ext cx="2148840" cy="548640"/>
          </a:xfrm>
          <a:prstGeom prst="rect">
            <a:avLst/>
          </a:prstGeom>
          <a:noFill/>
          <a:ln/>
        </p:spPr>
        <p:txBody>
          <a:bodyPr wrap="square" lIns="0" tIns="0" rIns="0" bIns="0" rtlCol="0" anchor="t"/>
          <a:lstStyle/>
          <a:p>
            <a:pPr indent="0" marL="0">
              <a:buNone/>
            </a:pPr>
            <a:r>
              <a:rPr lang="en-US" sz="1400" dirty="0">
                <a:solidFill>
                  <a:srgbClr val="F3F0E8"/>
                </a:solidFill>
                <a:latin typeface="Calibri" pitchFamily="34" charset="0"/>
                <a:ea typeface="Calibri" pitchFamily="34" charset="-122"/>
                <a:cs typeface="Calibri" pitchFamily="34" charset="-120"/>
              </a:rPr>
              <a:t>Simulator fails a worked example</a:t>
            </a:r>
            <a:endParaRPr lang="en-US" sz="1400" dirty="0"/>
          </a:p>
        </p:txBody>
      </p:sp>
      <p:sp>
        <p:nvSpPr>
          <p:cNvPr id="14" name="event 68"/>
          <p:cNvSpPr/>
          <p:nvPr/>
        </p:nvSpPr>
        <p:spPr>
          <a:xfrm>
            <a:off x="4694936" y="3282696"/>
            <a:ext cx="201168" cy="201168"/>
          </a:xfrm>
          <a:prstGeom prst="ellipse">
            <a:avLst/>
          </a:prstGeom>
          <a:solidFill>
            <a:srgbClr val="FF7A33"/>
          </a:solidFill>
          <a:ln w="25400">
            <a:solidFill>
              <a:srgbClr val="FF7A33"/>
            </a:solidFill>
            <a:prstDash val="solid"/>
          </a:ln>
        </p:spPr>
      </p:sp>
      <p:sp>
        <p:nvSpPr>
          <p:cNvPr id="15" name="Text 13"/>
          <p:cNvSpPr txBox="1"/>
          <p:nvPr/>
        </p:nvSpPr>
        <p:spPr>
          <a:xfrm>
            <a:off x="4694936" y="2240280"/>
            <a:ext cx="1097280" cy="292608"/>
          </a:xfrm>
          <a:prstGeom prst="rect">
            <a:avLst/>
          </a:prstGeom>
          <a:noFill/>
          <a:ln/>
        </p:spPr>
        <p:txBody>
          <a:bodyPr wrap="square" lIns="0" tIns="0" rIns="0" bIns="0" rtlCol="0" anchor="ctr"/>
          <a:lstStyle/>
          <a:p>
            <a:pPr indent="0" marL="0">
              <a:buNone/>
            </a:pPr>
            <a:r>
              <a:rPr lang="en-US" sz="1400" b="1" dirty="0">
                <a:solidFill>
                  <a:srgbClr val="FF7A33"/>
                </a:solidFill>
                <a:latin typeface="Consolas" pitchFamily="34" charset="0"/>
                <a:ea typeface="Consolas" pitchFamily="34" charset="-122"/>
                <a:cs typeface="Consolas" pitchFamily="34" charset="-120"/>
              </a:rPr>
              <a:t>68 s</a:t>
            </a:r>
            <a:endParaRPr lang="en-US" sz="1400" dirty="0"/>
          </a:p>
        </p:txBody>
      </p:sp>
      <p:sp>
        <p:nvSpPr>
          <p:cNvPr id="16" name="Text 14"/>
          <p:cNvSpPr txBox="1"/>
          <p:nvPr/>
        </p:nvSpPr>
        <p:spPr>
          <a:xfrm>
            <a:off x="4694936" y="2551176"/>
            <a:ext cx="2148840" cy="548640"/>
          </a:xfrm>
          <a:prstGeom prst="rect">
            <a:avLst/>
          </a:prstGeom>
          <a:noFill/>
          <a:ln/>
        </p:spPr>
        <p:txBody>
          <a:bodyPr wrap="square" lIns="0" tIns="0" rIns="0" bIns="0" rtlCol="0" anchor="t"/>
          <a:lstStyle/>
          <a:p>
            <a:pPr indent="0" marL="0">
              <a:buNone/>
            </a:pPr>
            <a:r>
              <a:rPr lang="en-US" sz="1400" dirty="0">
                <a:solidFill>
                  <a:srgbClr val="F3F0E8"/>
                </a:solidFill>
                <a:latin typeface="Calibri" pitchFamily="34" charset="0"/>
                <a:ea typeface="Calibri" pitchFamily="34" charset="-122"/>
                <a:cs typeface="Calibri" pitchFamily="34" charset="-120"/>
              </a:rPr>
              <a:t>Repaired simulator passes every check</a:t>
            </a:r>
            <a:endParaRPr lang="en-US" sz="1400" dirty="0"/>
          </a:p>
        </p:txBody>
      </p:sp>
      <p:sp>
        <p:nvSpPr>
          <p:cNvPr id="17" name="event 98"/>
          <p:cNvSpPr/>
          <p:nvPr/>
        </p:nvSpPr>
        <p:spPr>
          <a:xfrm>
            <a:off x="6447536" y="3282696"/>
            <a:ext cx="201168" cy="201168"/>
          </a:xfrm>
          <a:prstGeom prst="ellipse">
            <a:avLst/>
          </a:prstGeom>
          <a:solidFill>
            <a:srgbClr val="FF7A33"/>
          </a:solidFill>
          <a:ln w="25400">
            <a:solidFill>
              <a:srgbClr val="FF7A33"/>
            </a:solidFill>
            <a:prstDash val="solid"/>
          </a:ln>
        </p:spPr>
      </p:sp>
      <p:sp>
        <p:nvSpPr>
          <p:cNvPr id="18" name="Text 16"/>
          <p:cNvSpPr txBox="1"/>
          <p:nvPr/>
        </p:nvSpPr>
        <p:spPr>
          <a:xfrm>
            <a:off x="6447536" y="3886200"/>
            <a:ext cx="1097280" cy="292608"/>
          </a:xfrm>
          <a:prstGeom prst="rect">
            <a:avLst/>
          </a:prstGeom>
          <a:noFill/>
          <a:ln/>
        </p:spPr>
        <p:txBody>
          <a:bodyPr wrap="square" lIns="0" tIns="0" rIns="0" bIns="0" rtlCol="0" anchor="ctr"/>
          <a:lstStyle/>
          <a:p>
            <a:pPr indent="0" marL="0">
              <a:buNone/>
            </a:pPr>
            <a:r>
              <a:rPr lang="en-US" sz="1400" b="1" dirty="0">
                <a:solidFill>
                  <a:srgbClr val="FF7A33"/>
                </a:solidFill>
                <a:latin typeface="Consolas" pitchFamily="34" charset="0"/>
                <a:ea typeface="Consolas" pitchFamily="34" charset="-122"/>
                <a:cs typeface="Consolas" pitchFamily="34" charset="-120"/>
              </a:rPr>
              <a:t>98 s</a:t>
            </a:r>
            <a:endParaRPr lang="en-US" sz="1400" dirty="0"/>
          </a:p>
        </p:txBody>
      </p:sp>
      <p:sp>
        <p:nvSpPr>
          <p:cNvPr id="19" name="Text 17"/>
          <p:cNvSpPr txBox="1"/>
          <p:nvPr/>
        </p:nvSpPr>
        <p:spPr>
          <a:xfrm>
            <a:off x="6447536" y="4197096"/>
            <a:ext cx="2148840" cy="548640"/>
          </a:xfrm>
          <a:prstGeom prst="rect">
            <a:avLst/>
          </a:prstGeom>
          <a:noFill/>
          <a:ln/>
        </p:spPr>
        <p:txBody>
          <a:bodyPr wrap="square" lIns="0" tIns="0" rIns="0" bIns="0" rtlCol="0" anchor="t"/>
          <a:lstStyle/>
          <a:p>
            <a:pPr indent="0" marL="0">
              <a:buNone/>
            </a:pPr>
            <a:r>
              <a:rPr lang="en-US" sz="1400" dirty="0">
                <a:solidFill>
                  <a:srgbClr val="F3F0E8"/>
                </a:solidFill>
                <a:latin typeface="Calibri" pitchFamily="34" charset="0"/>
                <a:ea typeface="Calibri" pitchFamily="34" charset="-122"/>
                <a:cs typeface="Calibri" pitchFamily="34" charset="-120"/>
              </a:rPr>
              <a:t>Self-play ranks 3 drafts, both seats</a:t>
            </a:r>
            <a:endParaRPr lang="en-US" sz="1400" dirty="0"/>
          </a:p>
        </p:txBody>
      </p:sp>
      <p:sp>
        <p:nvSpPr>
          <p:cNvPr id="20" name="event 133"/>
          <p:cNvSpPr/>
          <p:nvPr/>
        </p:nvSpPr>
        <p:spPr>
          <a:xfrm>
            <a:off x="8492236" y="3282696"/>
            <a:ext cx="201168" cy="201168"/>
          </a:xfrm>
          <a:prstGeom prst="ellipse">
            <a:avLst/>
          </a:prstGeom>
          <a:solidFill>
            <a:srgbClr val="FF7A33"/>
          </a:solidFill>
          <a:ln w="25400">
            <a:solidFill>
              <a:srgbClr val="FF7A33"/>
            </a:solidFill>
            <a:prstDash val="solid"/>
          </a:ln>
        </p:spPr>
      </p:sp>
      <p:sp>
        <p:nvSpPr>
          <p:cNvPr id="21" name="Text 19"/>
          <p:cNvSpPr txBox="1"/>
          <p:nvPr/>
        </p:nvSpPr>
        <p:spPr>
          <a:xfrm>
            <a:off x="8492236" y="2240280"/>
            <a:ext cx="1097280" cy="292608"/>
          </a:xfrm>
          <a:prstGeom prst="rect">
            <a:avLst/>
          </a:prstGeom>
          <a:noFill/>
          <a:ln/>
        </p:spPr>
        <p:txBody>
          <a:bodyPr wrap="square" lIns="0" tIns="0" rIns="0" bIns="0" rtlCol="0" anchor="ctr"/>
          <a:lstStyle/>
          <a:p>
            <a:pPr indent="0" marL="0">
              <a:buNone/>
            </a:pPr>
            <a:r>
              <a:rPr lang="en-US" sz="1400" b="1" dirty="0">
                <a:solidFill>
                  <a:srgbClr val="FF7A33"/>
                </a:solidFill>
                <a:latin typeface="Consolas" pitchFamily="34" charset="0"/>
                <a:ea typeface="Consolas" pitchFamily="34" charset="-122"/>
                <a:cs typeface="Consolas" pitchFamily="34" charset="-120"/>
              </a:rPr>
              <a:t>133 s</a:t>
            </a:r>
            <a:endParaRPr lang="en-US" sz="1400" dirty="0"/>
          </a:p>
        </p:txBody>
      </p:sp>
      <p:sp>
        <p:nvSpPr>
          <p:cNvPr id="22" name="Text 20"/>
          <p:cNvSpPr txBox="1"/>
          <p:nvPr/>
        </p:nvSpPr>
        <p:spPr>
          <a:xfrm>
            <a:off x="8492236" y="2551176"/>
            <a:ext cx="2148840" cy="548640"/>
          </a:xfrm>
          <a:prstGeom prst="rect">
            <a:avLst/>
          </a:prstGeom>
          <a:noFill/>
          <a:ln/>
        </p:spPr>
        <p:txBody>
          <a:bodyPr wrap="square" lIns="0" tIns="0" rIns="0" bIns="0" rtlCol="0" anchor="t"/>
          <a:lstStyle/>
          <a:p>
            <a:pPr indent="0" marL="0">
              <a:buNone/>
            </a:pPr>
            <a:r>
              <a:rPr lang="en-US" sz="1400" dirty="0">
                <a:solidFill>
                  <a:srgbClr val="F3F0E8"/>
                </a:solidFill>
                <a:latin typeface="Calibri" pitchFamily="34" charset="0"/>
                <a:ea typeface="Calibri" pitchFamily="34" charset="-122"/>
                <a:cs typeface="Calibri" pitchFamily="34" charset="-120"/>
              </a:rPr>
              <a:t>Improvement round: a challenger joins</a:t>
            </a:r>
            <a:endParaRPr lang="en-US" sz="1400" dirty="0"/>
          </a:p>
        </p:txBody>
      </p:sp>
      <p:sp>
        <p:nvSpPr>
          <p:cNvPr id="23" name="event 141"/>
          <p:cNvSpPr/>
          <p:nvPr/>
        </p:nvSpPr>
        <p:spPr>
          <a:xfrm>
            <a:off x="8959596" y="3282696"/>
            <a:ext cx="201168" cy="201168"/>
          </a:xfrm>
          <a:prstGeom prst="ellipse">
            <a:avLst/>
          </a:prstGeom>
          <a:solidFill>
            <a:srgbClr val="FF7A33"/>
          </a:solidFill>
          <a:ln w="25400">
            <a:solidFill>
              <a:srgbClr val="FF7A33"/>
            </a:solidFill>
            <a:prstDash val="solid"/>
          </a:ln>
        </p:spPr>
      </p:sp>
      <p:sp>
        <p:nvSpPr>
          <p:cNvPr id="24" name="Text 22"/>
          <p:cNvSpPr txBox="1"/>
          <p:nvPr/>
        </p:nvSpPr>
        <p:spPr>
          <a:xfrm>
            <a:off x="8959596" y="3886200"/>
            <a:ext cx="1097280" cy="292608"/>
          </a:xfrm>
          <a:prstGeom prst="rect">
            <a:avLst/>
          </a:prstGeom>
          <a:noFill/>
          <a:ln/>
        </p:spPr>
        <p:txBody>
          <a:bodyPr wrap="square" lIns="0" tIns="0" rIns="0" bIns="0" rtlCol="0" anchor="ctr"/>
          <a:lstStyle/>
          <a:p>
            <a:pPr indent="0" marL="0">
              <a:buNone/>
            </a:pPr>
            <a:r>
              <a:rPr lang="en-US" sz="1400" b="1" dirty="0">
                <a:solidFill>
                  <a:srgbClr val="FF7A33"/>
                </a:solidFill>
                <a:latin typeface="Consolas" pitchFamily="34" charset="0"/>
                <a:ea typeface="Consolas" pitchFamily="34" charset="-122"/>
                <a:cs typeface="Consolas" pitchFamily="34" charset="-120"/>
              </a:rPr>
              <a:t>141 s</a:t>
            </a:r>
            <a:endParaRPr lang="en-US" sz="1400" dirty="0"/>
          </a:p>
        </p:txBody>
      </p:sp>
      <p:sp>
        <p:nvSpPr>
          <p:cNvPr id="25" name="Text 23"/>
          <p:cNvSpPr txBox="1"/>
          <p:nvPr/>
        </p:nvSpPr>
        <p:spPr>
          <a:xfrm>
            <a:off x="8959596" y="4197096"/>
            <a:ext cx="2148840" cy="548640"/>
          </a:xfrm>
          <a:prstGeom prst="rect">
            <a:avLst/>
          </a:prstGeom>
          <a:noFill/>
          <a:ln/>
        </p:spPr>
        <p:txBody>
          <a:bodyPr wrap="square" lIns="0" tIns="0" rIns="0" bIns="0" rtlCol="0" anchor="t"/>
          <a:lstStyle/>
          <a:p>
            <a:pPr indent="0" marL="0">
              <a:buNone/>
            </a:pPr>
            <a:r>
              <a:rPr lang="en-US" sz="1400" dirty="0">
                <a:solidFill>
                  <a:srgbClr val="F3F0E8"/>
                </a:solidFill>
                <a:latin typeface="Calibri" pitchFamily="34" charset="0"/>
                <a:ea typeface="Calibri" pitchFamily="34" charset="-122"/>
                <a:cs typeface="Calibri" pitchFamily="34" charset="-120"/>
              </a:rPr>
              <a:t>Final probe passed: strategy.py out</a:t>
            </a:r>
            <a:endParaRPr lang="en-US" sz="1400" dirty="0"/>
          </a:p>
        </p:txBody>
      </p:sp>
      <p:sp>
        <p:nvSpPr>
          <p:cNvPr id="26" name="Text 24"/>
          <p:cNvSpPr txBox="1"/>
          <p:nvPr/>
        </p:nvSpPr>
        <p:spPr>
          <a:xfrm>
            <a:off x="548640" y="5532120"/>
            <a:ext cx="7772400" cy="502920"/>
          </a:xfrm>
          <a:prstGeom prst="rect">
            <a:avLst/>
          </a:prstGeom>
          <a:noFill/>
          <a:ln/>
        </p:spPr>
        <p:txBody>
          <a:bodyPr wrap="square" lIns="0" tIns="0" rIns="0" bIns="0" rtlCol="0" anchor="ctr"/>
          <a:lstStyle/>
          <a:p>
            <a:pPr indent="0" marL="0">
              <a:buNone/>
            </a:pPr>
            <a:r>
              <a:rPr lang="en-US" sz="2600" b="1" dirty="0">
                <a:solidFill>
                  <a:srgbClr val="F3F0E8"/>
                </a:solidFill>
                <a:latin typeface="Century Gothic" pitchFamily="34" charset="0"/>
                <a:ea typeface="Century Gothic" pitchFamily="34" charset="-122"/>
                <a:cs typeface="Century Gothic" pitchFamily="34" charset="-120"/>
              </a:rPr>
              <a:t>Spec in. Strategy out. Never a forfeit.</a:t>
            </a:r>
            <a:endParaRPr lang="en-US" sz="2600" dirty="0"/>
          </a:p>
        </p:txBody>
      </p:sp>
      <p:sp>
        <p:nvSpPr>
          <p:cNvPr id="27" name="Text 25"/>
          <p:cNvSpPr txBox="1"/>
          <p:nvPr/>
        </p:nvSpPr>
        <p:spPr>
          <a:xfrm>
            <a:off x="548640" y="6053328"/>
            <a:ext cx="7772400" cy="320040"/>
          </a:xfrm>
          <a:prstGeom prst="rect">
            <a:avLst/>
          </a:prstGeom>
          <a:noFill/>
          <a:ln/>
        </p:spPr>
        <p:txBody>
          <a:bodyPr wrap="square" lIns="0" tIns="0" rIns="0" bIns="0" rtlCol="0" anchor="ctr"/>
          <a:lstStyle/>
          <a:p>
            <a:pPr indent="0" marL="0">
              <a:buNone/>
            </a:pPr>
            <a:r>
              <a:rPr lang="en-US" sz="1400" dirty="0">
                <a:solidFill>
                  <a:srgbClr val="AEB6C2"/>
                </a:solidFill>
                <a:latin typeface="Calibri" pitchFamily="34" charset="0"/>
                <a:ea typeface="Calibri" pitchFamily="34" charset="-122"/>
                <a:cs typeface="Calibri" pitchFamily="34" charset="-120"/>
              </a:rPr>
              <a:t>Task A profile in the evaluation’s Docker container: $0.018 of $0.03.</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7D8694"/>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Spec to Strategy">
  <a:themeElements>
    <a:clrScheme name="Spec to Strategy">
      <a:dk1>
        <a:srgbClr val="0F1218"/>
      </a:dk1>
      <a:lt1>
        <a:srgbClr val="FFFFFF"/>
      </a:lt1>
      <a:dk2>
        <a:srgbClr val="14171C"/>
      </a:dk2>
      <a:lt2>
        <a:srgbClr val="F5F6F8"/>
      </a:lt2>
      <a:accent1>
        <a:srgbClr val="FF7A33"/>
      </a:accent1>
      <a:accent2>
        <a:srgbClr val="2F5FC4"/>
      </a:accent2>
      <a:accent3>
        <a:srgbClr val="9AA3B2"/>
      </a:accent3>
      <a:accent4>
        <a:srgbClr val="B44A12"/>
      </a:accent4>
      <a:accent5>
        <a:srgbClr val="7FAEFF"/>
      </a:accent5>
      <a:accent6>
        <a:srgbClr val="4A5260"/>
      </a:accent6>
      <a:hlink>
        <a:srgbClr val="2F5FC4"/>
      </a:hlink>
      <a:folHlink>
        <a:srgbClr val="4A5260"/>
      </a:folHlink>
    </a:clrScheme>
    <a:fontScheme name="Spec to Strategy">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 in. Strategy out.</dc:title>
  <dc:subject>Zentral Hack 2026: an agent harness for unseen games</dc:subject>
  <dc:creator>PptxGenJS</dc:creator>
  <cp:lastModifiedBy>PptxGenJS</cp:lastModifiedBy>
  <cp:revision>1</cp:revision>
  <dcterms:created xsi:type="dcterms:W3CDTF">2026-10-24T10:48:45Z</dcterms:created>
  <dcterms:modified xsi:type="dcterms:W3CDTF">2026-10-24T10:48:45Z</dcterms:modified>
</cp:coreProperties>
</file>