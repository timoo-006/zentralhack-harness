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5f3eb38d-ef0c-7841-1ca6-405cfc8d5649}">
          <p14:sldIdLst>
            <p14:sldId id="256"/>
            <p14:sldId id="257"/>
          </p14:sldIdLst>
        </p14:section>
        <p14:section name="How" id="{77a9d6fd-a493-1b2d-d131-ca8aef5e91e3}">
          <p14:sldIdLst>
            <p14:sldId id="258"/>
            <p14:sldId id="259"/>
          </p14:sldIdLst>
        </p14:section>
        <p14:section name="Proof" id="{740777e5-093f-14b2-95f8-007a0fcc4ea9}">
          <p14:sldIdLst>
            <p14:sldId id="260"/>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Hi, we are Elias, Isaak and Timo. Our harness gets a game it has never seen, only as a written spec, and has to hand back a strategy that wins. Alone, in a sandbox, on a fixed budget. In three minutes: the idea, how we built it, and what we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(0:15–0:40) The task: a written game spec in, a strategy file out, unattended, on three budgets from three cents and three minutes up to ten dollars and thirty minutes. Only wins count. We started with research: Google DeepMind’s Code World Models: an LLM that writes a simulator plus search code matches or beats Gemini 2.5 Pro playing directly in 9 of 10 games. So our insight: the LLM is the programmer, not the player, and nothing it writes is trusted before it is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(0:40–1:15) The pipeline. It writes several strategy drafts with different strategic personas and, in parallel, a simulator of the game. Nothing is trusted: the simulator must reproduce the spec’s worked examples, every draft is probed and repaired from its tracebacks. The survivors play a round robin on the simulator, both seats, many seeds, under the tournament’s real time limits. Then the strongest model writes challengers against the champion’s weak spots, and we repeat while time and money last. Around all of it, a guard: hard timer, fallback strategy, output check, so a forfeit is impossible by construction. Budget and deadline are enforced per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(1:15–1:45) We built the harness the way it works itself. Claude Code was our engineering team: parallel agents wrote and reviewed every module, held to 416 tests. Then we ran loops. Besides the two dev games we built eight games of our own with new mechanics, and kept four of them out of all tuning, as an honest exam. Each epoch: switch features off one at a time, measure, keep only what wins. More than 120 measured runs, about 45 dollars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(1:45–2:30) Real evidence from outside: the organisers’ midpoint evaluation, task B, four teams, five runs each, on beta and a hidden game. On the hidden game our best strategy was number one of all twenty, winning 94.8% of its matches; overall we placed second of four. Not one of our strategies ever forfeited: 112 delivered strategies, all pass the official conformance check. Two of our five runs were weak, and we traced that to our own simulator check, which rejected correct simulators of games with hidden information; it is fixed. And on two brand-new games nobody tuned on, the final harness beats the one-shot baseline 36 to 0 to 12 and 48 to 0 to 0. (Wins–draws–losses; one-shot = one LLM draft, what a typical harness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(2:30–3:00) Finally, one real run, recorded in the evaluation’s Docker container on the task-A budget. After 24 seconds the first valid draft leads. At 35 seconds the simulator fails a worked example from the spec, at 68 it is repaired and passes. Self-play ranks the drafts, an improvement round adds a challenger, and at 141 seconds the champion is delivered, for 1.8 cents. Spec in, strategy out, never a forfeit. Thank you.
LIVE DEMO OPTION: start `./run.sh tasks/beta-A` on a second screen when the pitch begins (about 2.5 minutes, about $0.02); on this slide show its last lines (exit code 0) and `arena check ... PASSED`. If anything goes wrong, this slide is the recorded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F12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13232"/>
            <a:ext cx="11094415" cy="822960"/>
          </a:xfrm>
          <a:prstGeom prst="rect">
            <a:avLst/>
          </a:prstGeom>
          <a:noFill/>
          <a:ln/>
        </p:spPr>
        <p:txBody>
          <a:bodyPr wrap="square" rtlCol="0"/>
          <a:lstStyle>
            <a:lvl1pPr algn="l" indent="0" marL="0">
              <a:buNone/>
              <a:defRPr lang="en-US" sz="3400" b="1" dirty="0">
                <a:solidFill>
                  <a:srgbClr val="F3F0E8"/>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5F6F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13232"/>
            <a:ext cx="11094415" cy="822960"/>
          </a:xfrm>
          <a:prstGeom prst="rect">
            <a:avLst/>
          </a:prstGeom>
          <a:noFill/>
          <a:ln/>
        </p:spPr>
        <p:txBody>
          <a:bodyPr wrap="square" rtlCol="0"/>
          <a:lstStyle>
            <a:lvl1pPr algn="l" indent="0" marL="0">
              <a:buNone/>
              <a:defRPr lang="en-US" sz="3400" b="1" dirty="0">
                <a:solidFill>
                  <a:srgbClr val="14171C"/>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CCENT">
    <p:bg>
      <p:bgPr>
        <a:solidFill>
          <a:srgbClr val="FF7A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13232"/>
            <a:ext cx="11094415" cy="822960"/>
          </a:xfrm>
          <a:prstGeom prst="rect">
            <a:avLst/>
          </a:prstGeom>
          <a:noFill/>
          <a:ln/>
        </p:spPr>
        <p:txBody>
          <a:bodyPr wrap="square" rtlCol="0"/>
          <a:lstStyle>
            <a:lvl1pPr algn="l" indent="0" marL="0">
              <a:buNone/>
              <a:defRPr lang="en-US" sz="3400" b="1" dirty="0">
                <a:solidFill>
                  <a:srgbClr val="0F1218"/>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3A2010"/>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rgbClr val="0F12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flipV="1">
            <a:off x="7825435" y="2459736"/>
            <a:ext cx="907085" cy="1020470"/>
          </a:xfrm>
          <a:prstGeom prst="line">
            <a:avLst/>
          </a:prstGeom>
          <a:noFill/>
          <a:ln w="19050">
            <a:solidFill>
              <a:srgbClr val="2A313C"/>
            </a:solidFill>
            <a:prstDash val="solid"/>
          </a:ln>
        </p:spPr>
      </p:sp>
      <p:sp>
        <p:nvSpPr>
          <p:cNvPr id="3" name="Shape 1"/>
          <p:cNvSpPr/>
          <p:nvPr/>
        </p:nvSpPr>
        <p:spPr>
          <a:xfrm>
            <a:off x="7825435" y="3480206"/>
            <a:ext cx="907085" cy="1020470"/>
          </a:xfrm>
          <a:prstGeom prst="line">
            <a:avLst/>
          </a:prstGeom>
          <a:noFill/>
          <a:ln w="19050">
            <a:solidFill>
              <a:srgbClr val="2A313C"/>
            </a:solidFill>
            <a:prstDash val="solid"/>
          </a:ln>
        </p:spPr>
      </p:sp>
      <p:sp>
        <p:nvSpPr>
          <p:cNvPr id="4" name="Shape 2"/>
          <p:cNvSpPr/>
          <p:nvPr/>
        </p:nvSpPr>
        <p:spPr>
          <a:xfrm flipV="1">
            <a:off x="8732520" y="1949501"/>
            <a:ext cx="963778" cy="510235"/>
          </a:xfrm>
          <a:prstGeom prst="line">
            <a:avLst/>
          </a:prstGeom>
          <a:noFill/>
          <a:ln w="19050">
            <a:solidFill>
              <a:srgbClr val="2A313C"/>
            </a:solidFill>
            <a:prstDash val="solid"/>
          </a:ln>
        </p:spPr>
      </p:sp>
      <p:sp>
        <p:nvSpPr>
          <p:cNvPr id="5" name="Shape 3"/>
          <p:cNvSpPr/>
          <p:nvPr/>
        </p:nvSpPr>
        <p:spPr>
          <a:xfrm>
            <a:off x="8732520" y="2459736"/>
            <a:ext cx="963778" cy="1020470"/>
          </a:xfrm>
          <a:prstGeom prst="line">
            <a:avLst/>
          </a:prstGeom>
          <a:noFill/>
          <a:ln w="19050">
            <a:solidFill>
              <a:srgbClr val="2A313C"/>
            </a:solidFill>
            <a:prstDash val="solid"/>
          </a:ln>
        </p:spPr>
      </p:sp>
      <p:sp>
        <p:nvSpPr>
          <p:cNvPr id="6" name="Shape 4"/>
          <p:cNvSpPr/>
          <p:nvPr/>
        </p:nvSpPr>
        <p:spPr>
          <a:xfrm flipV="1">
            <a:off x="8732520" y="3480206"/>
            <a:ext cx="963778" cy="1020470"/>
          </a:xfrm>
          <a:prstGeom prst="line">
            <a:avLst/>
          </a:prstGeom>
          <a:noFill/>
          <a:ln w="19050">
            <a:solidFill>
              <a:srgbClr val="2A313C"/>
            </a:solidFill>
            <a:prstDash val="solid"/>
          </a:ln>
        </p:spPr>
      </p:sp>
      <p:sp>
        <p:nvSpPr>
          <p:cNvPr id="7" name="Shape 5"/>
          <p:cNvSpPr/>
          <p:nvPr/>
        </p:nvSpPr>
        <p:spPr>
          <a:xfrm>
            <a:off x="8732520" y="4500677"/>
            <a:ext cx="963778" cy="510235"/>
          </a:xfrm>
          <a:prstGeom prst="line">
            <a:avLst/>
          </a:prstGeom>
          <a:noFill/>
          <a:ln w="19050">
            <a:solidFill>
              <a:srgbClr val="2A313C"/>
            </a:solidFill>
            <a:prstDash val="solid"/>
          </a:ln>
        </p:spPr>
      </p:sp>
      <p:sp>
        <p:nvSpPr>
          <p:cNvPr id="8" name="Shape 6"/>
          <p:cNvSpPr/>
          <p:nvPr/>
        </p:nvSpPr>
        <p:spPr>
          <a:xfrm>
            <a:off x="9696298" y="1949501"/>
            <a:ext cx="963778" cy="737006"/>
          </a:xfrm>
          <a:prstGeom prst="line">
            <a:avLst/>
          </a:prstGeom>
          <a:noFill/>
          <a:ln w="19050">
            <a:solidFill>
              <a:srgbClr val="2A313C"/>
            </a:solidFill>
            <a:prstDash val="solid"/>
          </a:ln>
        </p:spPr>
      </p:sp>
      <p:sp>
        <p:nvSpPr>
          <p:cNvPr id="9" name="Shape 7"/>
          <p:cNvSpPr/>
          <p:nvPr/>
        </p:nvSpPr>
        <p:spPr>
          <a:xfrm flipV="1">
            <a:off x="9696298" y="2686507"/>
            <a:ext cx="963778" cy="793699"/>
          </a:xfrm>
          <a:prstGeom prst="line">
            <a:avLst/>
          </a:prstGeom>
          <a:noFill/>
          <a:ln w="19050">
            <a:solidFill>
              <a:srgbClr val="2A313C"/>
            </a:solidFill>
            <a:prstDash val="solid"/>
          </a:ln>
        </p:spPr>
      </p:sp>
      <p:sp>
        <p:nvSpPr>
          <p:cNvPr id="10" name="Shape 8"/>
          <p:cNvSpPr/>
          <p:nvPr/>
        </p:nvSpPr>
        <p:spPr>
          <a:xfrm>
            <a:off x="9696298" y="3480206"/>
            <a:ext cx="963778" cy="793699"/>
          </a:xfrm>
          <a:prstGeom prst="line">
            <a:avLst/>
          </a:prstGeom>
          <a:noFill/>
          <a:ln w="19050">
            <a:solidFill>
              <a:srgbClr val="2A313C"/>
            </a:solidFill>
            <a:prstDash val="solid"/>
          </a:ln>
        </p:spPr>
      </p:sp>
      <p:sp>
        <p:nvSpPr>
          <p:cNvPr id="11" name="Shape 9"/>
          <p:cNvSpPr/>
          <p:nvPr/>
        </p:nvSpPr>
        <p:spPr>
          <a:xfrm flipV="1">
            <a:off x="9696298" y="4273906"/>
            <a:ext cx="963778" cy="737006"/>
          </a:xfrm>
          <a:prstGeom prst="line">
            <a:avLst/>
          </a:prstGeom>
          <a:noFill/>
          <a:ln w="19050">
            <a:solidFill>
              <a:srgbClr val="2A313C"/>
            </a:solidFill>
            <a:prstDash val="solid"/>
          </a:ln>
        </p:spPr>
      </p:sp>
      <p:sp>
        <p:nvSpPr>
          <p:cNvPr id="12" name="Shape 10"/>
          <p:cNvSpPr/>
          <p:nvPr/>
        </p:nvSpPr>
        <p:spPr>
          <a:xfrm>
            <a:off x="10660075" y="2686507"/>
            <a:ext cx="566928" cy="793699"/>
          </a:xfrm>
          <a:prstGeom prst="line">
            <a:avLst/>
          </a:prstGeom>
          <a:noFill/>
          <a:ln w="19050">
            <a:solidFill>
              <a:srgbClr val="2A313C"/>
            </a:solidFill>
            <a:prstDash val="solid"/>
          </a:ln>
        </p:spPr>
      </p:sp>
      <p:sp>
        <p:nvSpPr>
          <p:cNvPr id="13" name="Shape 11"/>
          <p:cNvSpPr/>
          <p:nvPr/>
        </p:nvSpPr>
        <p:spPr>
          <a:xfrm flipV="1">
            <a:off x="10660075" y="3480206"/>
            <a:ext cx="566928" cy="793699"/>
          </a:xfrm>
          <a:prstGeom prst="line">
            <a:avLst/>
          </a:prstGeom>
          <a:noFill/>
          <a:ln w="19050">
            <a:solidFill>
              <a:srgbClr val="2A313C"/>
            </a:solidFill>
            <a:prstDash val="solid"/>
          </a:ln>
        </p:spPr>
      </p:sp>
      <p:sp>
        <p:nvSpPr>
          <p:cNvPr id="14" name="Shape 12"/>
          <p:cNvSpPr/>
          <p:nvPr/>
        </p:nvSpPr>
        <p:spPr>
          <a:xfrm>
            <a:off x="9696298" y="1949501"/>
            <a:ext cx="914" cy="1530706"/>
          </a:xfrm>
          <a:prstGeom prst="line">
            <a:avLst/>
          </a:prstGeom>
          <a:noFill/>
          <a:ln w="19050">
            <a:solidFill>
              <a:srgbClr val="2A313C"/>
            </a:solidFill>
            <a:prstDash val="solid"/>
          </a:ln>
        </p:spPr>
      </p:sp>
      <p:sp>
        <p:nvSpPr>
          <p:cNvPr id="15" name="Shape 13"/>
          <p:cNvSpPr/>
          <p:nvPr/>
        </p:nvSpPr>
        <p:spPr>
          <a:xfrm flipV="1">
            <a:off x="7825435" y="2459736"/>
            <a:ext cx="907085" cy="1020470"/>
          </a:xfrm>
          <a:prstGeom prst="line">
            <a:avLst/>
          </a:prstGeom>
          <a:noFill/>
          <a:ln w="44450">
            <a:solidFill>
              <a:srgbClr val="FF7A33"/>
            </a:solidFill>
            <a:prstDash val="solid"/>
          </a:ln>
        </p:spPr>
      </p:sp>
      <p:sp>
        <p:nvSpPr>
          <p:cNvPr id="16" name="Shape 14"/>
          <p:cNvSpPr/>
          <p:nvPr/>
        </p:nvSpPr>
        <p:spPr>
          <a:xfrm>
            <a:off x="8732520" y="2459736"/>
            <a:ext cx="963778" cy="1020470"/>
          </a:xfrm>
          <a:prstGeom prst="line">
            <a:avLst/>
          </a:prstGeom>
          <a:noFill/>
          <a:ln w="44450">
            <a:solidFill>
              <a:srgbClr val="FF7A33"/>
            </a:solidFill>
            <a:prstDash val="solid"/>
          </a:ln>
        </p:spPr>
      </p:sp>
      <p:sp>
        <p:nvSpPr>
          <p:cNvPr id="17" name="Shape 15"/>
          <p:cNvSpPr/>
          <p:nvPr/>
        </p:nvSpPr>
        <p:spPr>
          <a:xfrm>
            <a:off x="9696298" y="3480206"/>
            <a:ext cx="963778" cy="793699"/>
          </a:xfrm>
          <a:prstGeom prst="line">
            <a:avLst/>
          </a:prstGeom>
          <a:noFill/>
          <a:ln w="44450">
            <a:solidFill>
              <a:srgbClr val="FF7A33"/>
            </a:solidFill>
            <a:prstDash val="solid"/>
          </a:ln>
        </p:spPr>
      </p:sp>
      <p:sp>
        <p:nvSpPr>
          <p:cNvPr id="18" name="Shape 16"/>
          <p:cNvSpPr/>
          <p:nvPr/>
        </p:nvSpPr>
        <p:spPr>
          <a:xfrm flipV="1">
            <a:off x="10660075" y="3480206"/>
            <a:ext cx="566928" cy="793699"/>
          </a:xfrm>
          <a:prstGeom prst="line">
            <a:avLst/>
          </a:prstGeom>
          <a:noFill/>
          <a:ln w="44450">
            <a:solidFill>
              <a:srgbClr val="FF7A33"/>
            </a:solidFill>
            <a:prstDash val="solid"/>
          </a:ln>
        </p:spPr>
      </p:sp>
      <p:sp>
        <p:nvSpPr>
          <p:cNvPr id="19" name="node A"/>
          <p:cNvSpPr/>
          <p:nvPr/>
        </p:nvSpPr>
        <p:spPr>
          <a:xfrm>
            <a:off x="7669987" y="3324758"/>
            <a:ext cx="310896" cy="310896"/>
          </a:xfrm>
          <a:prstGeom prst="ellipse">
            <a:avLst/>
          </a:prstGeom>
          <a:solidFill>
            <a:srgbClr val="0F1218"/>
          </a:solidFill>
          <a:ln w="38100">
            <a:solidFill>
              <a:srgbClr val="FF7A33"/>
            </a:solidFill>
            <a:prstDash val="solid"/>
          </a:ln>
        </p:spPr>
      </p:sp>
      <p:sp>
        <p:nvSpPr>
          <p:cNvPr id="20" name="node B"/>
          <p:cNvSpPr/>
          <p:nvPr/>
        </p:nvSpPr>
        <p:spPr>
          <a:xfrm>
            <a:off x="8641080" y="2368296"/>
            <a:ext cx="182880" cy="182880"/>
          </a:xfrm>
          <a:prstGeom prst="ellipse">
            <a:avLst/>
          </a:prstGeom>
          <a:solidFill>
            <a:srgbClr val="FF7A33"/>
          </a:solidFill>
          <a:ln w="19050">
            <a:solidFill>
              <a:srgbClr val="FF7A33"/>
            </a:solidFill>
            <a:prstDash val="solid"/>
          </a:ln>
        </p:spPr>
      </p:sp>
      <p:sp>
        <p:nvSpPr>
          <p:cNvPr id="21" name="node C"/>
          <p:cNvSpPr/>
          <p:nvPr/>
        </p:nvSpPr>
        <p:spPr>
          <a:xfrm>
            <a:off x="8641080" y="4409237"/>
            <a:ext cx="182880" cy="182880"/>
          </a:xfrm>
          <a:prstGeom prst="ellipse">
            <a:avLst/>
          </a:prstGeom>
          <a:solidFill>
            <a:srgbClr val="1B2029"/>
          </a:solidFill>
          <a:ln w="19050">
            <a:solidFill>
              <a:srgbClr val="3A4350"/>
            </a:solidFill>
            <a:prstDash val="solid"/>
          </a:ln>
        </p:spPr>
      </p:sp>
      <p:sp>
        <p:nvSpPr>
          <p:cNvPr id="22" name="node D"/>
          <p:cNvSpPr/>
          <p:nvPr/>
        </p:nvSpPr>
        <p:spPr>
          <a:xfrm>
            <a:off x="9604858" y="1858061"/>
            <a:ext cx="182880" cy="182880"/>
          </a:xfrm>
          <a:prstGeom prst="ellipse">
            <a:avLst/>
          </a:prstGeom>
          <a:solidFill>
            <a:srgbClr val="1B2029"/>
          </a:solidFill>
          <a:ln w="19050">
            <a:solidFill>
              <a:srgbClr val="3A4350"/>
            </a:solidFill>
            <a:prstDash val="solid"/>
          </a:ln>
        </p:spPr>
      </p:sp>
      <p:sp>
        <p:nvSpPr>
          <p:cNvPr id="23" name="node E"/>
          <p:cNvSpPr/>
          <p:nvPr/>
        </p:nvSpPr>
        <p:spPr>
          <a:xfrm>
            <a:off x="9604858" y="3388766"/>
            <a:ext cx="182880" cy="182880"/>
          </a:xfrm>
          <a:prstGeom prst="ellipse">
            <a:avLst/>
          </a:prstGeom>
          <a:solidFill>
            <a:srgbClr val="FF7A33"/>
          </a:solidFill>
          <a:ln w="19050">
            <a:solidFill>
              <a:srgbClr val="FF7A33"/>
            </a:solidFill>
            <a:prstDash val="solid"/>
          </a:ln>
        </p:spPr>
      </p:sp>
      <p:sp>
        <p:nvSpPr>
          <p:cNvPr id="24" name="node F"/>
          <p:cNvSpPr/>
          <p:nvPr/>
        </p:nvSpPr>
        <p:spPr>
          <a:xfrm>
            <a:off x="9604858" y="4919472"/>
            <a:ext cx="182880" cy="182880"/>
          </a:xfrm>
          <a:prstGeom prst="ellipse">
            <a:avLst/>
          </a:prstGeom>
          <a:solidFill>
            <a:srgbClr val="1B2029"/>
          </a:solidFill>
          <a:ln w="19050">
            <a:solidFill>
              <a:srgbClr val="3A4350"/>
            </a:solidFill>
            <a:prstDash val="solid"/>
          </a:ln>
        </p:spPr>
      </p:sp>
      <p:sp>
        <p:nvSpPr>
          <p:cNvPr id="25" name="node G"/>
          <p:cNvSpPr/>
          <p:nvPr/>
        </p:nvSpPr>
        <p:spPr>
          <a:xfrm>
            <a:off x="10568635" y="2595067"/>
            <a:ext cx="182880" cy="182880"/>
          </a:xfrm>
          <a:prstGeom prst="ellipse">
            <a:avLst/>
          </a:prstGeom>
          <a:solidFill>
            <a:srgbClr val="1B2029"/>
          </a:solidFill>
          <a:ln w="19050">
            <a:solidFill>
              <a:srgbClr val="3A4350"/>
            </a:solidFill>
            <a:prstDash val="solid"/>
          </a:ln>
        </p:spPr>
      </p:sp>
      <p:sp>
        <p:nvSpPr>
          <p:cNvPr id="26" name="node H"/>
          <p:cNvSpPr/>
          <p:nvPr/>
        </p:nvSpPr>
        <p:spPr>
          <a:xfrm>
            <a:off x="10568635" y="4182466"/>
            <a:ext cx="182880" cy="182880"/>
          </a:xfrm>
          <a:prstGeom prst="ellipse">
            <a:avLst/>
          </a:prstGeom>
          <a:solidFill>
            <a:srgbClr val="FF7A33"/>
          </a:solidFill>
          <a:ln w="19050">
            <a:solidFill>
              <a:srgbClr val="FF7A33"/>
            </a:solidFill>
            <a:prstDash val="solid"/>
          </a:ln>
        </p:spPr>
      </p:sp>
      <p:sp>
        <p:nvSpPr>
          <p:cNvPr id="27" name="node I"/>
          <p:cNvSpPr/>
          <p:nvPr/>
        </p:nvSpPr>
        <p:spPr>
          <a:xfrm>
            <a:off x="11071555" y="3324758"/>
            <a:ext cx="310896" cy="310896"/>
          </a:xfrm>
          <a:prstGeom prst="ellipse">
            <a:avLst/>
          </a:prstGeom>
          <a:solidFill>
            <a:srgbClr val="0F1218"/>
          </a:solidFill>
          <a:ln w="38100">
            <a:solidFill>
              <a:srgbClr val="7FAEFF"/>
            </a:solidFill>
            <a:prstDash val="solid"/>
          </a:ln>
        </p:spPr>
      </p:sp>
      <p:sp>
        <p:nvSpPr>
          <p:cNvPr id="28" name="Text 26"/>
          <p:cNvSpPr txBox="1"/>
          <p:nvPr/>
        </p:nvSpPr>
        <p:spPr>
          <a:xfrm>
            <a:off x="548640" y="640080"/>
            <a:ext cx="6400800" cy="320040"/>
          </a:xfrm>
          <a:prstGeom prst="rect">
            <a:avLst/>
          </a:prstGeom>
          <a:noFill/>
          <a:ln/>
        </p:spPr>
        <p:txBody>
          <a:bodyPr wrap="square" lIns="0" tIns="0" rIns="0" bIns="0" rtlCol="0" anchor="ctr"/>
          <a:lstStyle/>
          <a:p>
            <a:pPr indent="0" marL="0">
              <a:buNone/>
            </a:pPr>
            <a:r>
              <a:rPr lang="en-US" sz="1300" b="1" spc="300" kern="0" dirty="0">
                <a:solidFill>
                  <a:srgbClr val="FF7A33"/>
                </a:solidFill>
                <a:latin typeface="Consolas" pitchFamily="34" charset="0"/>
                <a:ea typeface="Consolas" pitchFamily="34" charset="-122"/>
                <a:cs typeface="Consolas" pitchFamily="34" charset="-120"/>
              </a:rPr>
              <a:t>ZENTRAL HACK 2026 · AGENT HARNESS</a:t>
            </a:r>
            <a:endParaRPr lang="en-US" sz="1300" dirty="0"/>
          </a:p>
        </p:txBody>
      </p:sp>
      <p:sp>
        <p:nvSpPr>
          <p:cNvPr id="29" name="title"/>
          <p:cNvSpPr txBox="1"/>
          <p:nvPr/>
        </p:nvSpPr>
        <p:spPr>
          <a:xfrm>
            <a:off x="548640" y="1828800"/>
            <a:ext cx="6583680" cy="2194560"/>
          </a:xfrm>
          <a:prstGeom prst="rect">
            <a:avLst/>
          </a:prstGeom>
          <a:noFill/>
          <a:ln/>
        </p:spPr>
        <p:txBody>
          <a:bodyPr wrap="square" lIns="0" tIns="0" rIns="0" bIns="0" rtlCol="0" anchor="t"/>
          <a:lstStyle/>
          <a:p>
            <a:pPr indent="0" marL="0">
              <a:lnSpc>
                <a:spcPct val="95000"/>
              </a:lnSpc>
              <a:buNone/>
            </a:pPr>
            <a:r>
              <a:rPr lang="en-US" sz="6000" b="1" dirty="0">
                <a:solidFill>
                  <a:srgbClr val="F3F0E8"/>
                </a:solidFill>
                <a:latin typeface="Century Gothic" pitchFamily="34" charset="0"/>
                <a:ea typeface="Century Gothic" pitchFamily="34" charset="-122"/>
                <a:cs typeface="Century Gothic" pitchFamily="34" charset="-120"/>
              </a:rPr>
              <a:t>Spec in.</a:t>
            </a:r>
            <a:endParaRPr lang="en-US" sz="6000" dirty="0"/>
          </a:p>
          <a:p>
            <a:pPr indent="0" marL="0">
              <a:lnSpc>
                <a:spcPct val="95000"/>
              </a:lnSpc>
              <a:buNone/>
            </a:pPr>
            <a:r>
              <a:rPr lang="en-US" sz="6000" b="1" dirty="0">
                <a:solidFill>
                  <a:srgbClr val="F3F0E8"/>
                </a:solidFill>
                <a:latin typeface="Century Gothic" pitchFamily="34" charset="0"/>
                <a:ea typeface="Century Gothic" pitchFamily="34" charset="-122"/>
                <a:cs typeface="Century Gothic" pitchFamily="34" charset="-120"/>
              </a:rPr>
              <a:t>Strategy out.</a:t>
            </a:r>
            <a:endParaRPr lang="en-US" sz="6000" dirty="0"/>
          </a:p>
        </p:txBody>
      </p:sp>
      <p:sp>
        <p:nvSpPr>
          <p:cNvPr id="30" name="Text 28"/>
          <p:cNvSpPr txBox="1"/>
          <p:nvPr/>
        </p:nvSpPr>
        <p:spPr>
          <a:xfrm>
            <a:off x="548640" y="4160520"/>
            <a:ext cx="6035040" cy="548640"/>
          </a:xfrm>
          <a:prstGeom prst="rect">
            <a:avLst/>
          </a:prstGeom>
          <a:noFill/>
          <a:ln/>
        </p:spPr>
        <p:txBody>
          <a:bodyPr wrap="square" lIns="0" tIns="0" rIns="0" bIns="0" rtlCol="0" anchor="t"/>
          <a:lstStyle/>
          <a:p>
            <a:pPr indent="0" marL="0">
              <a:buNone/>
            </a:pPr>
            <a:r>
              <a:rPr lang="en-US" sz="2000" dirty="0">
                <a:solidFill>
                  <a:srgbClr val="AEB6C2"/>
                </a:solidFill>
                <a:latin typeface="Calibri" pitchFamily="34" charset="0"/>
                <a:ea typeface="Calibri" pitchFamily="34" charset="-122"/>
                <a:cs typeface="Calibri" pitchFamily="34" charset="-120"/>
              </a:rPr>
              <a:t>An agent harness for games it has never seen.</a:t>
            </a:r>
            <a:endParaRPr lang="en-US" sz="2000" dirty="0"/>
          </a:p>
        </p:txBody>
      </p:sp>
      <p:sp>
        <p:nvSpPr>
          <p:cNvPr id="31" name="Text 29"/>
          <p:cNvSpPr txBox="1"/>
          <p:nvPr/>
        </p:nvSpPr>
        <p:spPr>
          <a:xfrm>
            <a:off x="548640" y="6035040"/>
            <a:ext cx="5486400" cy="411480"/>
          </a:xfrm>
          <a:prstGeom prst="rect">
            <a:avLst/>
          </a:prstGeom>
          <a:noFill/>
          <a:ln/>
        </p:spPr>
        <p:txBody>
          <a:bodyPr wrap="square" lIns="0" tIns="0" rIns="0" bIns="0" rtlCol="0" anchor="ctr"/>
          <a:lstStyle/>
          <a:p>
            <a:pPr indent="0" marL="0">
              <a:buNone/>
            </a:pPr>
            <a:r>
              <a:rPr lang="en-US" sz="1800" b="1" dirty="0">
                <a:solidFill>
                  <a:srgbClr val="AEB6C2"/>
                </a:solidFill>
                <a:latin typeface="Century Gothic" pitchFamily="34" charset="0"/>
                <a:ea typeface="Century Gothic" pitchFamily="34" charset="-122"/>
                <a:cs typeface="Century Gothic" pitchFamily="34" charset="-120"/>
              </a:rPr>
              <a:t>Elias  ·  Isaak  ·  Timo</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B44A12"/>
                </a:solidFill>
                <a:latin typeface="Consolas" pitchFamily="34" charset="0"/>
                <a:ea typeface="Consolas" pitchFamily="34" charset="-122"/>
                <a:cs typeface="Consolas" pitchFamily="34" charset="-120"/>
              </a:rPr>
              <a:t>THE TASK · THE INSIGHT</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14171C"/>
                </a:solidFill>
                <a:latin typeface="Century Gothic" pitchFamily="34" charset="0"/>
                <a:ea typeface="Century Gothic" pitchFamily="34" charset="-122"/>
                <a:cs typeface="Century Gothic" pitchFamily="34" charset="-120"/>
              </a:rPr>
              <a:t>An unseen game, a fixed budget, only wins count</a:t>
            </a:r>
            <a:endParaRPr lang="en-US" sz="3400" dirty="0"/>
          </a:p>
        </p:txBody>
      </p:sp>
      <p:sp>
        <p:nvSpPr>
          <p:cNvPr id="4" name="card task"/>
          <p:cNvSpPr/>
          <p:nvPr/>
        </p:nvSpPr>
        <p:spPr>
          <a:xfrm>
            <a:off x="548640" y="2148840"/>
            <a:ext cx="3520440" cy="3108960"/>
          </a:xfrm>
          <a:prstGeom prst="roundRect">
            <a:avLst>
              <a:gd name="adj" fmla="val 35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5" name="Text 3"/>
          <p:cNvSpPr txBox="1"/>
          <p:nvPr/>
        </p:nvSpPr>
        <p:spPr>
          <a:xfrm>
            <a:off x="868680" y="2423160"/>
            <a:ext cx="2880360" cy="365760"/>
          </a:xfrm>
          <a:prstGeom prst="rect">
            <a:avLst/>
          </a:prstGeom>
          <a:noFill/>
          <a:ln/>
        </p:spPr>
        <p:txBody>
          <a:bodyPr wrap="square" lIns="0" tIns="0" rIns="0" bIns="0" rtlCol="0" anchor="ctr"/>
          <a:lstStyle/>
          <a:p>
            <a:pPr indent="0" marL="0">
              <a:buNone/>
            </a:pPr>
            <a:r>
              <a:rPr lang="en-US" sz="2000" b="1" dirty="0">
                <a:solidFill>
                  <a:srgbClr val="14171C"/>
                </a:solidFill>
                <a:latin typeface="Century Gothic" pitchFamily="34" charset="0"/>
                <a:ea typeface="Century Gothic" pitchFamily="34" charset="-122"/>
                <a:cs typeface="Century Gothic" pitchFamily="34" charset="-120"/>
              </a:rPr>
              <a:t>The task</a:t>
            </a:r>
            <a:endParaRPr lang="en-US" sz="2000" dirty="0"/>
          </a:p>
        </p:txBody>
      </p:sp>
      <p:sp>
        <p:nvSpPr>
          <p:cNvPr id="6" name="Text 4"/>
          <p:cNvSpPr txBox="1"/>
          <p:nvPr/>
        </p:nvSpPr>
        <p:spPr>
          <a:xfrm>
            <a:off x="868680" y="3108960"/>
            <a:ext cx="411480" cy="365760"/>
          </a:xfrm>
          <a:prstGeom prst="rect">
            <a:avLst/>
          </a:prstGeom>
          <a:noFill/>
          <a:ln/>
        </p:spPr>
        <p:txBody>
          <a:bodyPr wrap="square" lIns="0" tIns="0" rIns="0" bIns="0" rtlCol="0" anchor="ctr"/>
          <a:lstStyle/>
          <a:p>
            <a:pPr indent="0" marL="0">
              <a:buNone/>
            </a:pPr>
            <a:r>
              <a:rPr lang="en-US" sz="2000" b="1" dirty="0">
                <a:solidFill>
                  <a:srgbClr val="B44A12"/>
                </a:solidFill>
                <a:latin typeface="Consolas" pitchFamily="34" charset="0"/>
                <a:ea typeface="Consolas" pitchFamily="34" charset="-122"/>
                <a:cs typeface="Consolas" pitchFamily="34" charset="-120"/>
              </a:rPr>
              <a:t>A</a:t>
            </a:r>
            <a:endParaRPr lang="en-US" sz="2000" dirty="0"/>
          </a:p>
        </p:txBody>
      </p:sp>
      <p:sp>
        <p:nvSpPr>
          <p:cNvPr id="7" name="Text 5"/>
          <p:cNvSpPr txBox="1"/>
          <p:nvPr/>
        </p:nvSpPr>
        <p:spPr>
          <a:xfrm>
            <a:off x="1325880" y="3108960"/>
            <a:ext cx="2423160" cy="411480"/>
          </a:xfrm>
          <a:prstGeom prst="rect">
            <a:avLst/>
          </a:prstGeom>
          <a:noFill/>
          <a:ln/>
        </p:spPr>
        <p:txBody>
          <a:bodyPr wrap="square" lIns="0" tIns="0" rIns="0" bIns="0" rtlCol="0" anchor="ctr"/>
          <a:lstStyle/>
          <a:p>
            <a:pPr indent="0" marL="0">
              <a:buNone/>
            </a:pPr>
            <a:r>
              <a:rPr lang="en-US" sz="2200" b="1" dirty="0">
                <a:solidFill>
                  <a:srgbClr val="14171C"/>
                </a:solidFill>
                <a:latin typeface="Calibri" pitchFamily="34" charset="0"/>
                <a:ea typeface="Calibri" pitchFamily="34" charset="-122"/>
                <a:cs typeface="Calibri" pitchFamily="34" charset="-120"/>
              </a:rPr>
              <a:t>$0.03  ·  3 min</a:t>
            </a:r>
            <a:endParaRPr lang="en-US" sz="2200" dirty="0"/>
          </a:p>
        </p:txBody>
      </p:sp>
      <p:sp>
        <p:nvSpPr>
          <p:cNvPr id="8" name="Text 6"/>
          <p:cNvSpPr txBox="1"/>
          <p:nvPr/>
        </p:nvSpPr>
        <p:spPr>
          <a:xfrm>
            <a:off x="868680" y="3767328"/>
            <a:ext cx="411480" cy="365760"/>
          </a:xfrm>
          <a:prstGeom prst="rect">
            <a:avLst/>
          </a:prstGeom>
          <a:noFill/>
          <a:ln/>
        </p:spPr>
        <p:txBody>
          <a:bodyPr wrap="square" lIns="0" tIns="0" rIns="0" bIns="0" rtlCol="0" anchor="ctr"/>
          <a:lstStyle/>
          <a:p>
            <a:pPr indent="0" marL="0">
              <a:buNone/>
            </a:pPr>
            <a:r>
              <a:rPr lang="en-US" sz="2000" b="1" dirty="0">
                <a:solidFill>
                  <a:srgbClr val="B44A12"/>
                </a:solidFill>
                <a:latin typeface="Consolas" pitchFamily="34" charset="0"/>
                <a:ea typeface="Consolas" pitchFamily="34" charset="-122"/>
                <a:cs typeface="Consolas" pitchFamily="34" charset="-120"/>
              </a:rPr>
              <a:t>B</a:t>
            </a:r>
            <a:endParaRPr lang="en-US" sz="2000" dirty="0"/>
          </a:p>
        </p:txBody>
      </p:sp>
      <p:sp>
        <p:nvSpPr>
          <p:cNvPr id="9" name="Text 7"/>
          <p:cNvSpPr txBox="1"/>
          <p:nvPr/>
        </p:nvSpPr>
        <p:spPr>
          <a:xfrm>
            <a:off x="1325880" y="3767328"/>
            <a:ext cx="2423160" cy="411480"/>
          </a:xfrm>
          <a:prstGeom prst="rect">
            <a:avLst/>
          </a:prstGeom>
          <a:noFill/>
          <a:ln/>
        </p:spPr>
        <p:txBody>
          <a:bodyPr wrap="square" lIns="0" tIns="0" rIns="0" bIns="0" rtlCol="0" anchor="ctr"/>
          <a:lstStyle/>
          <a:p>
            <a:pPr indent="0" marL="0">
              <a:buNone/>
            </a:pPr>
            <a:r>
              <a:rPr lang="en-US" sz="2200" b="1" dirty="0">
                <a:solidFill>
                  <a:srgbClr val="14171C"/>
                </a:solidFill>
                <a:latin typeface="Calibri" pitchFamily="34" charset="0"/>
                <a:ea typeface="Calibri" pitchFamily="34" charset="-122"/>
                <a:cs typeface="Calibri" pitchFamily="34" charset="-120"/>
              </a:rPr>
              <a:t>$0.50  ·  10 min</a:t>
            </a:r>
            <a:endParaRPr lang="en-US" sz="2200" dirty="0"/>
          </a:p>
        </p:txBody>
      </p:sp>
      <p:sp>
        <p:nvSpPr>
          <p:cNvPr id="10" name="Text 8"/>
          <p:cNvSpPr txBox="1"/>
          <p:nvPr/>
        </p:nvSpPr>
        <p:spPr>
          <a:xfrm>
            <a:off x="868680" y="4425696"/>
            <a:ext cx="411480" cy="365760"/>
          </a:xfrm>
          <a:prstGeom prst="rect">
            <a:avLst/>
          </a:prstGeom>
          <a:noFill/>
          <a:ln/>
        </p:spPr>
        <p:txBody>
          <a:bodyPr wrap="square" lIns="0" tIns="0" rIns="0" bIns="0" rtlCol="0" anchor="ctr"/>
          <a:lstStyle/>
          <a:p>
            <a:pPr indent="0" marL="0">
              <a:buNone/>
            </a:pPr>
            <a:r>
              <a:rPr lang="en-US" sz="2000" b="1" dirty="0">
                <a:solidFill>
                  <a:srgbClr val="B44A12"/>
                </a:solidFill>
                <a:latin typeface="Consolas" pitchFamily="34" charset="0"/>
                <a:ea typeface="Consolas" pitchFamily="34" charset="-122"/>
                <a:cs typeface="Consolas" pitchFamily="34" charset="-120"/>
              </a:rPr>
              <a:t>C</a:t>
            </a:r>
            <a:endParaRPr lang="en-US" sz="2000" dirty="0"/>
          </a:p>
        </p:txBody>
      </p:sp>
      <p:sp>
        <p:nvSpPr>
          <p:cNvPr id="11" name="Text 9"/>
          <p:cNvSpPr txBox="1"/>
          <p:nvPr/>
        </p:nvSpPr>
        <p:spPr>
          <a:xfrm>
            <a:off x="1325880" y="4425696"/>
            <a:ext cx="2423160" cy="411480"/>
          </a:xfrm>
          <a:prstGeom prst="rect">
            <a:avLst/>
          </a:prstGeom>
          <a:noFill/>
          <a:ln/>
        </p:spPr>
        <p:txBody>
          <a:bodyPr wrap="square" lIns="0" tIns="0" rIns="0" bIns="0" rtlCol="0" anchor="ctr"/>
          <a:lstStyle/>
          <a:p>
            <a:pPr indent="0" marL="0">
              <a:buNone/>
            </a:pPr>
            <a:r>
              <a:rPr lang="en-US" sz="2200" b="1" dirty="0">
                <a:solidFill>
                  <a:srgbClr val="14171C"/>
                </a:solidFill>
                <a:latin typeface="Calibri" pitchFamily="34" charset="0"/>
                <a:ea typeface="Calibri" pitchFamily="34" charset="-122"/>
                <a:cs typeface="Calibri" pitchFamily="34" charset="-120"/>
              </a:rPr>
              <a:t>$10  ·  30 min</a:t>
            </a:r>
            <a:endParaRPr lang="en-US" sz="2200" dirty="0"/>
          </a:p>
        </p:txBody>
      </p:sp>
      <p:sp>
        <p:nvSpPr>
          <p:cNvPr id="12" name="card research"/>
          <p:cNvSpPr/>
          <p:nvPr/>
        </p:nvSpPr>
        <p:spPr>
          <a:xfrm>
            <a:off x="4343400" y="2148840"/>
            <a:ext cx="3520440" cy="3108960"/>
          </a:xfrm>
          <a:prstGeom prst="roundRect">
            <a:avLst>
              <a:gd name="adj" fmla="val 35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13" name="Text 11"/>
          <p:cNvSpPr txBox="1"/>
          <p:nvPr/>
        </p:nvSpPr>
        <p:spPr>
          <a:xfrm>
            <a:off x="4663440" y="2423160"/>
            <a:ext cx="2880360" cy="365760"/>
          </a:xfrm>
          <a:prstGeom prst="rect">
            <a:avLst/>
          </a:prstGeom>
          <a:noFill/>
          <a:ln/>
        </p:spPr>
        <p:txBody>
          <a:bodyPr wrap="square" lIns="0" tIns="0" rIns="0" bIns="0" rtlCol="0" anchor="ctr"/>
          <a:lstStyle/>
          <a:p>
            <a:pPr indent="0" marL="0">
              <a:buNone/>
            </a:pPr>
            <a:r>
              <a:rPr lang="en-US" sz="2000" b="1" dirty="0">
                <a:solidFill>
                  <a:srgbClr val="14171C"/>
                </a:solidFill>
                <a:latin typeface="Century Gothic" pitchFamily="34" charset="0"/>
                <a:ea typeface="Century Gothic" pitchFamily="34" charset="-122"/>
                <a:cs typeface="Century Gothic" pitchFamily="34" charset="-120"/>
              </a:rPr>
              <a:t>What research says</a:t>
            </a:r>
            <a:endParaRPr lang="en-US" sz="2000" dirty="0"/>
          </a:p>
        </p:txBody>
      </p:sp>
      <p:sp>
        <p:nvSpPr>
          <p:cNvPr id="14" name="Text 12"/>
          <p:cNvSpPr txBox="1"/>
          <p:nvPr/>
        </p:nvSpPr>
        <p:spPr>
          <a:xfrm>
            <a:off x="4663440" y="3017520"/>
            <a:ext cx="2880360" cy="822960"/>
          </a:xfrm>
          <a:prstGeom prst="rect">
            <a:avLst/>
          </a:prstGeom>
          <a:noFill/>
          <a:ln/>
        </p:spPr>
        <p:txBody>
          <a:bodyPr wrap="square" lIns="0" tIns="0" rIns="0" bIns="0" rtlCol="0" anchor="ctr"/>
          <a:lstStyle/>
          <a:p>
            <a:pPr indent="0" marL="0">
              <a:buNone/>
            </a:pPr>
            <a:r>
              <a:rPr lang="en-US" sz="4400" b="1" dirty="0">
                <a:solidFill>
                  <a:srgbClr val="2F5FC4"/>
                </a:solidFill>
                <a:latin typeface="Century Gothic" pitchFamily="34" charset="0"/>
                <a:ea typeface="Century Gothic" pitchFamily="34" charset="-122"/>
                <a:cs typeface="Century Gothic" pitchFamily="34" charset="-120"/>
              </a:rPr>
              <a:t>9</a:t>
            </a:r>
            <a:pPr indent="0" marL="0">
              <a:buNone/>
            </a:pPr>
            <a:r>
              <a:rPr lang="en-US" sz="4400" b="1" dirty="0">
                <a:solidFill>
                  <a:srgbClr val="9AA3B2"/>
                </a:solidFill>
                <a:latin typeface="Century Gothic" pitchFamily="34" charset="0"/>
                <a:ea typeface="Century Gothic" pitchFamily="34" charset="-122"/>
                <a:cs typeface="Century Gothic" pitchFamily="34" charset="-120"/>
              </a:rPr>
              <a:t> / 10</a:t>
            </a:r>
            <a:endParaRPr lang="en-US" sz="4400" dirty="0"/>
          </a:p>
        </p:txBody>
      </p:sp>
      <p:sp>
        <p:nvSpPr>
          <p:cNvPr id="15" name="Text 13"/>
          <p:cNvSpPr txBox="1"/>
          <p:nvPr/>
        </p:nvSpPr>
        <p:spPr>
          <a:xfrm>
            <a:off x="4663440" y="3931920"/>
            <a:ext cx="2880360" cy="685800"/>
          </a:xfrm>
          <a:prstGeom prst="rect">
            <a:avLst/>
          </a:prstGeom>
          <a:noFill/>
          <a:ln/>
        </p:spPr>
        <p:txBody>
          <a:bodyPr wrap="square" lIns="0" tIns="0" rIns="0" bIns="0" rtlCol="0" anchor="t"/>
          <a:lstStyle/>
          <a:p>
            <a:pPr indent="0" marL="0">
              <a:buNone/>
            </a:pPr>
            <a:r>
              <a:rPr lang="en-US" sz="1600" dirty="0">
                <a:solidFill>
                  <a:srgbClr val="4A5260"/>
                </a:solidFill>
                <a:latin typeface="Calibri" pitchFamily="34" charset="0"/>
                <a:ea typeface="Calibri" pitchFamily="34" charset="-122"/>
                <a:cs typeface="Calibri" pitchFamily="34" charset="-120"/>
              </a:rPr>
              <a:t>games where LLM-written code + search matches or beats a top LLM playing directly</a:t>
            </a:r>
            <a:endParaRPr lang="en-US" sz="1600" dirty="0"/>
          </a:p>
        </p:txBody>
      </p:sp>
      <p:sp>
        <p:nvSpPr>
          <p:cNvPr id="16" name="Text 14"/>
          <p:cNvSpPr txBox="1"/>
          <p:nvPr/>
        </p:nvSpPr>
        <p:spPr>
          <a:xfrm>
            <a:off x="4663440" y="4846320"/>
            <a:ext cx="2880360" cy="457200"/>
          </a:xfrm>
          <a:prstGeom prst="rect">
            <a:avLst/>
          </a:prstGeom>
          <a:noFill/>
          <a:ln/>
        </p:spPr>
        <p:txBody>
          <a:bodyPr wrap="square" lIns="0" tIns="0" rIns="0" bIns="0" rtlCol="0" anchor="t"/>
          <a:lstStyle/>
          <a:p>
            <a:pPr indent="0" marL="0">
              <a:buNone/>
            </a:pPr>
            <a:r>
              <a:rPr lang="en-US" sz="1400" i="1" dirty="0">
                <a:solidFill>
                  <a:srgbClr val="4A5260"/>
                </a:solidFill>
                <a:latin typeface="Calibri" pitchFamily="34" charset="0"/>
                <a:ea typeface="Calibri" pitchFamily="34" charset="-122"/>
                <a:cs typeface="Calibri" pitchFamily="34" charset="-120"/>
              </a:rPr>
              <a:t>Code World Models, Google DeepMind</a:t>
            </a:r>
            <a:endParaRPr lang="en-US" sz="1400" dirty="0"/>
          </a:p>
        </p:txBody>
      </p:sp>
      <p:sp>
        <p:nvSpPr>
          <p:cNvPr id="17" name="card insight"/>
          <p:cNvSpPr/>
          <p:nvPr/>
        </p:nvSpPr>
        <p:spPr>
          <a:xfrm>
            <a:off x="8138160" y="2148840"/>
            <a:ext cx="3520440" cy="3108960"/>
          </a:xfrm>
          <a:prstGeom prst="roundRect">
            <a:avLst>
              <a:gd name="adj" fmla="val 3529"/>
            </a:avLst>
          </a:prstGeom>
          <a:solidFill>
            <a:srgbClr val="0F1218"/>
          </a:solidFill>
          <a:ln w="9525">
            <a:solidFill>
              <a:srgbClr val="0F1218"/>
            </a:solidFill>
            <a:prstDash val="solid"/>
          </a:ln>
          <a:effectLst>
            <a:outerShdw sx="100000" sy="100000" kx="0" ky="0" algn="bl" rotWithShape="0" blurRad="101600" dist="25400" dir="5400000">
              <a:srgbClr val="000000">
                <a:alpha val="8000"/>
              </a:srgbClr>
            </a:outerShdw>
          </a:effectLst>
        </p:spPr>
      </p:sp>
      <p:sp>
        <p:nvSpPr>
          <p:cNvPr id="18" name="Text 16"/>
          <p:cNvSpPr txBox="1"/>
          <p:nvPr/>
        </p:nvSpPr>
        <p:spPr>
          <a:xfrm>
            <a:off x="8458200" y="2423160"/>
            <a:ext cx="2880360" cy="365760"/>
          </a:xfrm>
          <a:prstGeom prst="rect">
            <a:avLst/>
          </a:prstGeom>
          <a:noFill/>
          <a:ln/>
        </p:spPr>
        <p:txBody>
          <a:bodyPr wrap="square" lIns="0" tIns="0" rIns="0" bIns="0" rtlCol="0" anchor="ctr"/>
          <a:lstStyle/>
          <a:p>
            <a:pPr indent="0" marL="0">
              <a:buNone/>
            </a:pPr>
            <a:r>
              <a:rPr lang="en-US" sz="2000" b="1" dirty="0">
                <a:solidFill>
                  <a:srgbClr val="FF7A33"/>
                </a:solidFill>
                <a:latin typeface="Century Gothic" pitchFamily="34" charset="0"/>
                <a:ea typeface="Century Gothic" pitchFamily="34" charset="-122"/>
                <a:cs typeface="Century Gothic" pitchFamily="34" charset="-120"/>
              </a:rPr>
              <a:t>Our insight</a:t>
            </a:r>
            <a:endParaRPr lang="en-US" sz="2000" dirty="0"/>
          </a:p>
        </p:txBody>
      </p:sp>
      <p:sp>
        <p:nvSpPr>
          <p:cNvPr id="19" name="Text 17"/>
          <p:cNvSpPr txBox="1"/>
          <p:nvPr/>
        </p:nvSpPr>
        <p:spPr>
          <a:xfrm>
            <a:off x="8458200" y="3017520"/>
            <a:ext cx="2880360" cy="2194560"/>
          </a:xfrm>
          <a:prstGeom prst="rect">
            <a:avLst/>
          </a:prstGeom>
          <a:noFill/>
          <a:ln/>
        </p:spPr>
        <p:txBody>
          <a:bodyPr wrap="square" lIns="0" tIns="0" rIns="0" bIns="0" rtlCol="0" anchor="t"/>
          <a:lstStyle/>
          <a:p>
            <a:pPr indent="0" marL="0">
              <a:buNone/>
            </a:pPr>
            <a:r>
              <a:rPr lang="en-US" sz="3000" b="1" dirty="0">
                <a:solidFill>
                  <a:srgbClr val="F3F0E8"/>
                </a:solidFill>
                <a:latin typeface="Century Gothic" pitchFamily="34" charset="0"/>
                <a:ea typeface="Century Gothic" pitchFamily="34" charset="-122"/>
                <a:cs typeface="Century Gothic" pitchFamily="34" charset="-120"/>
              </a:rPr>
              <a:t>The LLM is the programmer, not the player.</a:t>
            </a:r>
            <a:endParaRPr lang="en-US" sz="3000" dirty="0"/>
          </a:p>
        </p:txBody>
      </p:sp>
      <p:sp>
        <p:nvSpPr>
          <p:cNvPr id="20" name="Text 18"/>
          <p:cNvSpPr txBox="1"/>
          <p:nvPr/>
        </p:nvSpPr>
        <p:spPr>
          <a:xfrm>
            <a:off x="548640" y="6327648"/>
            <a:ext cx="9601200" cy="292608"/>
          </a:xfrm>
          <a:prstGeom prst="rect">
            <a:avLst/>
          </a:prstGeom>
          <a:noFill/>
          <a:ln/>
        </p:spPr>
        <p:txBody>
          <a:bodyPr wrap="square" lIns="0" tIns="0" rIns="0" bIns="0" rtlCol="0" anchor="ctr"/>
          <a:lstStyle/>
          <a:p>
            <a:pPr indent="0" marL="0">
              <a:buNone/>
            </a:pPr>
            <a:r>
              <a:rPr lang="en-US" sz="1000" dirty="0">
                <a:solidFill>
                  <a:srgbClr val="6B7380"/>
                </a:solidFill>
                <a:latin typeface="Calibri" pitchFamily="34" charset="0"/>
                <a:ea typeface="Calibri" pitchFamily="34" charset="-122"/>
                <a:cs typeface="Calibri" pitchFamily="34" charset="-120"/>
              </a:rPr>
              <a:t>Sources: Zentral Hack 2026 task description; Code World Models for General Game Playing, arXiv 2510.04542.</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FF7A33"/>
                </a:solidFill>
                <a:latin typeface="Consolas" pitchFamily="34" charset="0"/>
                <a:ea typeface="Consolas" pitchFamily="34" charset="-122"/>
                <a:cs typeface="Consolas" pitchFamily="34" charset="-120"/>
              </a:rPr>
              <a:t>THE HARNESS</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F3F0E8"/>
                </a:solidFill>
                <a:latin typeface="Century Gothic" pitchFamily="34" charset="0"/>
                <a:ea typeface="Century Gothic" pitchFamily="34" charset="-122"/>
                <a:cs typeface="Century Gothic" pitchFamily="34" charset="-120"/>
              </a:rPr>
              <a:t>Many drafts, one verified simulator, one champion</a:t>
            </a:r>
            <a:endParaRPr lang="en-US" sz="3400" dirty="0"/>
          </a:p>
        </p:txBody>
      </p:sp>
      <p:sp>
        <p:nvSpPr>
          <p:cNvPr id="4" name="stage Write"/>
          <p:cNvSpPr/>
          <p:nvPr/>
        </p:nvSpPr>
        <p:spPr>
          <a:xfrm>
            <a:off x="548640" y="2697480"/>
            <a:ext cx="1938528" cy="1828800"/>
          </a:xfrm>
          <a:prstGeom prst="roundRect">
            <a:avLst>
              <a:gd name="adj" fmla="val 5000"/>
            </a:avLst>
          </a:prstGeom>
          <a:solidFill>
            <a:srgbClr val="1B2029"/>
          </a:solidFill>
          <a:ln w="9525">
            <a:solidFill>
              <a:srgbClr val="3A4350"/>
            </a:solidFill>
            <a:prstDash val="solid"/>
          </a:ln>
        </p:spPr>
      </p:sp>
      <p:sp>
        <p:nvSpPr>
          <p:cNvPr id="5" name="Text 3"/>
          <p:cNvSpPr txBox="1"/>
          <p:nvPr/>
        </p:nvSpPr>
        <p:spPr>
          <a:xfrm>
            <a:off x="731520"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1</a:t>
            </a:r>
            <a:endParaRPr lang="en-US" sz="1400" dirty="0"/>
          </a:p>
        </p:txBody>
      </p:sp>
      <p:sp>
        <p:nvSpPr>
          <p:cNvPr id="6" name="Text 4"/>
          <p:cNvSpPr txBox="1"/>
          <p:nvPr/>
        </p:nvSpPr>
        <p:spPr>
          <a:xfrm>
            <a:off x="731520"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Write</a:t>
            </a:r>
            <a:endParaRPr lang="en-US" sz="2000" dirty="0"/>
          </a:p>
        </p:txBody>
      </p:sp>
      <p:sp>
        <p:nvSpPr>
          <p:cNvPr id="7" name="Text 5"/>
          <p:cNvSpPr txBox="1"/>
          <p:nvPr/>
        </p:nvSpPr>
        <p:spPr>
          <a:xfrm>
            <a:off x="731520"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drafts + a simulator</a:t>
            </a:r>
            <a:endParaRPr lang="en-US" sz="1600" dirty="0"/>
          </a:p>
        </p:txBody>
      </p:sp>
      <p:sp>
        <p:nvSpPr>
          <p:cNvPr id="8" name="arrow"/>
          <p:cNvSpPr/>
          <p:nvPr/>
        </p:nvSpPr>
        <p:spPr>
          <a:xfrm>
            <a:off x="2560320" y="3502152"/>
            <a:ext cx="210312" cy="219456"/>
          </a:xfrm>
          <a:prstGeom prst="rightArrow">
            <a:avLst/>
          </a:prstGeom>
          <a:solidFill>
            <a:srgbClr val="3A4350"/>
          </a:solidFill>
          <a:ln w="12700">
            <a:solidFill>
              <a:srgbClr val="3A4350"/>
            </a:solidFill>
            <a:prstDash val="solid"/>
          </a:ln>
        </p:spPr>
      </p:sp>
      <p:sp>
        <p:nvSpPr>
          <p:cNvPr id="9" name="stage Verify"/>
          <p:cNvSpPr/>
          <p:nvPr/>
        </p:nvSpPr>
        <p:spPr>
          <a:xfrm>
            <a:off x="2843784" y="2697480"/>
            <a:ext cx="1938528" cy="1828800"/>
          </a:xfrm>
          <a:prstGeom prst="roundRect">
            <a:avLst>
              <a:gd name="adj" fmla="val 5000"/>
            </a:avLst>
          </a:prstGeom>
          <a:solidFill>
            <a:srgbClr val="1B2029"/>
          </a:solidFill>
          <a:ln w="9525">
            <a:solidFill>
              <a:srgbClr val="3A4350"/>
            </a:solidFill>
            <a:prstDash val="solid"/>
          </a:ln>
        </p:spPr>
      </p:sp>
      <p:sp>
        <p:nvSpPr>
          <p:cNvPr id="10" name="Text 8"/>
          <p:cNvSpPr txBox="1"/>
          <p:nvPr/>
        </p:nvSpPr>
        <p:spPr>
          <a:xfrm>
            <a:off x="3026664"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2</a:t>
            </a:r>
            <a:endParaRPr lang="en-US" sz="1400" dirty="0"/>
          </a:p>
        </p:txBody>
      </p:sp>
      <p:sp>
        <p:nvSpPr>
          <p:cNvPr id="11" name="Text 9"/>
          <p:cNvSpPr txBox="1"/>
          <p:nvPr/>
        </p:nvSpPr>
        <p:spPr>
          <a:xfrm>
            <a:off x="3026664"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Verify</a:t>
            </a:r>
            <a:endParaRPr lang="en-US" sz="2000" dirty="0"/>
          </a:p>
        </p:txBody>
      </p:sp>
      <p:sp>
        <p:nvSpPr>
          <p:cNvPr id="12" name="Text 10"/>
          <p:cNvSpPr txBox="1"/>
          <p:nvPr/>
        </p:nvSpPr>
        <p:spPr>
          <a:xfrm>
            <a:off x="3026664"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against the spec</a:t>
            </a:r>
            <a:endParaRPr lang="en-US" sz="1600" dirty="0"/>
          </a:p>
        </p:txBody>
      </p:sp>
      <p:sp>
        <p:nvSpPr>
          <p:cNvPr id="13" name="arrow"/>
          <p:cNvSpPr/>
          <p:nvPr/>
        </p:nvSpPr>
        <p:spPr>
          <a:xfrm>
            <a:off x="4855464" y="3502152"/>
            <a:ext cx="210312" cy="219456"/>
          </a:xfrm>
          <a:prstGeom prst="rightArrow">
            <a:avLst/>
          </a:prstGeom>
          <a:solidFill>
            <a:srgbClr val="3A4350"/>
          </a:solidFill>
          <a:ln w="12700">
            <a:solidFill>
              <a:srgbClr val="3A4350"/>
            </a:solidFill>
            <a:prstDash val="solid"/>
          </a:ln>
        </p:spPr>
      </p:sp>
      <p:sp>
        <p:nvSpPr>
          <p:cNvPr id="14" name="stage Self-play"/>
          <p:cNvSpPr/>
          <p:nvPr/>
        </p:nvSpPr>
        <p:spPr>
          <a:xfrm>
            <a:off x="5138928" y="2697480"/>
            <a:ext cx="1938528" cy="1828800"/>
          </a:xfrm>
          <a:prstGeom prst="roundRect">
            <a:avLst>
              <a:gd name="adj" fmla="val 5000"/>
            </a:avLst>
          </a:prstGeom>
          <a:solidFill>
            <a:srgbClr val="1B2029"/>
          </a:solidFill>
          <a:ln w="9525">
            <a:solidFill>
              <a:srgbClr val="3A4350"/>
            </a:solidFill>
            <a:prstDash val="solid"/>
          </a:ln>
        </p:spPr>
      </p:sp>
      <p:sp>
        <p:nvSpPr>
          <p:cNvPr id="15" name="Text 13"/>
          <p:cNvSpPr txBox="1"/>
          <p:nvPr/>
        </p:nvSpPr>
        <p:spPr>
          <a:xfrm>
            <a:off x="5321808"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3</a:t>
            </a:r>
            <a:endParaRPr lang="en-US" sz="1400" dirty="0"/>
          </a:p>
        </p:txBody>
      </p:sp>
      <p:sp>
        <p:nvSpPr>
          <p:cNvPr id="16" name="Text 14"/>
          <p:cNvSpPr txBox="1"/>
          <p:nvPr/>
        </p:nvSpPr>
        <p:spPr>
          <a:xfrm>
            <a:off x="5321808"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Self-play</a:t>
            </a:r>
            <a:endParaRPr lang="en-US" sz="2000" dirty="0"/>
          </a:p>
        </p:txBody>
      </p:sp>
      <p:sp>
        <p:nvSpPr>
          <p:cNvPr id="17" name="Text 15"/>
          <p:cNvSpPr txBox="1"/>
          <p:nvPr/>
        </p:nvSpPr>
        <p:spPr>
          <a:xfrm>
            <a:off x="5321808"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real tournament rules</a:t>
            </a:r>
            <a:endParaRPr lang="en-US" sz="1600" dirty="0"/>
          </a:p>
        </p:txBody>
      </p:sp>
      <p:sp>
        <p:nvSpPr>
          <p:cNvPr id="18" name="arrow"/>
          <p:cNvSpPr/>
          <p:nvPr/>
        </p:nvSpPr>
        <p:spPr>
          <a:xfrm>
            <a:off x="7150608" y="3502152"/>
            <a:ext cx="210312" cy="219456"/>
          </a:xfrm>
          <a:prstGeom prst="rightArrow">
            <a:avLst/>
          </a:prstGeom>
          <a:solidFill>
            <a:srgbClr val="3A4350"/>
          </a:solidFill>
          <a:ln w="12700">
            <a:solidFill>
              <a:srgbClr val="3A4350"/>
            </a:solidFill>
            <a:prstDash val="solid"/>
          </a:ln>
        </p:spPr>
      </p:sp>
      <p:sp>
        <p:nvSpPr>
          <p:cNvPr id="19" name="stage Improve"/>
          <p:cNvSpPr/>
          <p:nvPr/>
        </p:nvSpPr>
        <p:spPr>
          <a:xfrm>
            <a:off x="7434072" y="2697480"/>
            <a:ext cx="1938528" cy="1828800"/>
          </a:xfrm>
          <a:prstGeom prst="roundRect">
            <a:avLst>
              <a:gd name="adj" fmla="val 5000"/>
            </a:avLst>
          </a:prstGeom>
          <a:solidFill>
            <a:srgbClr val="1B2029"/>
          </a:solidFill>
          <a:ln w="9525">
            <a:solidFill>
              <a:srgbClr val="3A4350"/>
            </a:solidFill>
            <a:prstDash val="solid"/>
          </a:ln>
        </p:spPr>
      </p:sp>
      <p:sp>
        <p:nvSpPr>
          <p:cNvPr id="20" name="Text 18"/>
          <p:cNvSpPr txBox="1"/>
          <p:nvPr/>
        </p:nvSpPr>
        <p:spPr>
          <a:xfrm>
            <a:off x="7616952"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4</a:t>
            </a:r>
            <a:endParaRPr lang="en-US" sz="1400" dirty="0"/>
          </a:p>
        </p:txBody>
      </p:sp>
      <p:sp>
        <p:nvSpPr>
          <p:cNvPr id="21" name="Text 19"/>
          <p:cNvSpPr txBox="1"/>
          <p:nvPr/>
        </p:nvSpPr>
        <p:spPr>
          <a:xfrm>
            <a:off x="7616952"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Improve</a:t>
            </a:r>
            <a:endParaRPr lang="en-US" sz="2000" dirty="0"/>
          </a:p>
        </p:txBody>
      </p:sp>
      <p:sp>
        <p:nvSpPr>
          <p:cNvPr id="22" name="Text 20"/>
          <p:cNvSpPr txBox="1"/>
          <p:nvPr/>
        </p:nvSpPr>
        <p:spPr>
          <a:xfrm>
            <a:off x="7616952"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challengers vs. champion</a:t>
            </a:r>
            <a:endParaRPr lang="en-US" sz="1600" dirty="0"/>
          </a:p>
        </p:txBody>
      </p:sp>
      <p:sp>
        <p:nvSpPr>
          <p:cNvPr id="23" name="arrow"/>
          <p:cNvSpPr/>
          <p:nvPr/>
        </p:nvSpPr>
        <p:spPr>
          <a:xfrm>
            <a:off x="9445752" y="3502152"/>
            <a:ext cx="210312" cy="219456"/>
          </a:xfrm>
          <a:prstGeom prst="rightArrow">
            <a:avLst/>
          </a:prstGeom>
          <a:solidFill>
            <a:srgbClr val="3A4350"/>
          </a:solidFill>
          <a:ln w="12700">
            <a:solidFill>
              <a:srgbClr val="3A4350"/>
            </a:solidFill>
            <a:prstDash val="solid"/>
          </a:ln>
        </p:spPr>
      </p:sp>
      <p:sp>
        <p:nvSpPr>
          <p:cNvPr id="24" name="stage Guard"/>
          <p:cNvSpPr/>
          <p:nvPr/>
        </p:nvSpPr>
        <p:spPr>
          <a:xfrm>
            <a:off x="9729216" y="2697480"/>
            <a:ext cx="1938528" cy="1828800"/>
          </a:xfrm>
          <a:prstGeom prst="roundRect">
            <a:avLst>
              <a:gd name="adj" fmla="val 5000"/>
            </a:avLst>
          </a:prstGeom>
          <a:solidFill>
            <a:srgbClr val="1B2029"/>
          </a:solidFill>
          <a:ln w="19050">
            <a:solidFill>
              <a:srgbClr val="FF7A33"/>
            </a:solidFill>
            <a:prstDash val="solid"/>
          </a:ln>
        </p:spPr>
      </p:sp>
      <p:sp>
        <p:nvSpPr>
          <p:cNvPr id="25" name="Text 23"/>
          <p:cNvSpPr txBox="1"/>
          <p:nvPr/>
        </p:nvSpPr>
        <p:spPr>
          <a:xfrm>
            <a:off x="9912096"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5</a:t>
            </a:r>
            <a:endParaRPr lang="en-US" sz="1400" dirty="0"/>
          </a:p>
        </p:txBody>
      </p:sp>
      <p:sp>
        <p:nvSpPr>
          <p:cNvPr id="26" name="Text 24"/>
          <p:cNvSpPr txBox="1"/>
          <p:nvPr/>
        </p:nvSpPr>
        <p:spPr>
          <a:xfrm>
            <a:off x="9912096"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Guard</a:t>
            </a:r>
            <a:endParaRPr lang="en-US" sz="2000" dirty="0"/>
          </a:p>
        </p:txBody>
      </p:sp>
      <p:sp>
        <p:nvSpPr>
          <p:cNvPr id="27" name="Text 25"/>
          <p:cNvSpPr txBox="1"/>
          <p:nvPr/>
        </p:nvSpPr>
        <p:spPr>
          <a:xfrm>
            <a:off x="9912096"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never a forfeit</a:t>
            </a:r>
            <a:endParaRPr lang="en-US" sz="1600" dirty="0"/>
          </a:p>
        </p:txBody>
      </p:sp>
      <p:sp>
        <p:nvSpPr>
          <p:cNvPr id="28" name="loop"/>
          <p:cNvSpPr/>
          <p:nvPr/>
        </p:nvSpPr>
        <p:spPr>
          <a:xfrm>
            <a:off x="5321808" y="4727448"/>
            <a:ext cx="3867912" cy="384048"/>
          </a:xfrm>
          <a:prstGeom prst="roundRect">
            <a:avLst>
              <a:gd name="adj" fmla="val 50000"/>
            </a:avLst>
          </a:prstGeom>
          <a:solidFill>
            <a:srgbClr val="0F1218"/>
          </a:solidFill>
          <a:ln w="12700">
            <a:solidFill>
              <a:srgbClr val="FF7A33"/>
            </a:solidFill>
            <a:prstDash val="solid"/>
          </a:ln>
        </p:spPr>
      </p:sp>
      <p:sp>
        <p:nvSpPr>
          <p:cNvPr id="29" name="Text 27"/>
          <p:cNvSpPr txBox="1"/>
          <p:nvPr/>
        </p:nvSpPr>
        <p:spPr>
          <a:xfrm>
            <a:off x="5321808" y="4727448"/>
            <a:ext cx="3867912" cy="384048"/>
          </a:xfrm>
          <a:prstGeom prst="rect">
            <a:avLst/>
          </a:prstGeom>
          <a:noFill/>
          <a:ln/>
        </p:spPr>
        <p:txBody>
          <a:bodyPr wrap="square" lIns="0" tIns="0" rIns="0" bIns="0" rtlCol="0" anchor="ctr"/>
          <a:lstStyle/>
          <a:p>
            <a:pPr algn="ctr" indent="0" marL="0">
              <a:buNone/>
            </a:pPr>
            <a:r>
              <a:rPr lang="en-US" sz="1400" dirty="0">
                <a:solidFill>
                  <a:srgbClr val="FF7A33"/>
                </a:solidFill>
                <a:latin typeface="Calibri" pitchFamily="34" charset="0"/>
                <a:ea typeface="Calibri" pitchFamily="34" charset="-122"/>
                <a:cs typeface="Calibri" pitchFamily="34" charset="-120"/>
              </a:rPr>
              <a:t>↻  repeat while time and money last</a:t>
            </a:r>
            <a:endParaRPr lang="en-US" sz="1400" dirty="0"/>
          </a:p>
        </p:txBody>
      </p:sp>
      <p:sp>
        <p:nvSpPr>
          <p:cNvPr id="30" name="Text 28"/>
          <p:cNvSpPr txBox="1"/>
          <p:nvPr/>
        </p:nvSpPr>
        <p:spPr>
          <a:xfrm>
            <a:off x="548640" y="2304288"/>
            <a:ext cx="2286000" cy="274320"/>
          </a:xfrm>
          <a:prstGeom prst="rect">
            <a:avLst/>
          </a:prstGeom>
          <a:noFill/>
          <a:ln/>
        </p:spPr>
        <p:txBody>
          <a:bodyPr wrap="square" lIns="0" tIns="0" rIns="0" bIns="0" rtlCol="0" anchor="ctr"/>
          <a:lstStyle/>
          <a:p>
            <a:pPr indent="0" marL="0">
              <a:buNone/>
            </a:pPr>
            <a:r>
              <a:rPr lang="en-US" sz="1200" dirty="0">
                <a:solidFill>
                  <a:srgbClr val="7D8694"/>
                </a:solidFill>
                <a:latin typeface="Consolas" pitchFamily="34" charset="0"/>
                <a:ea typeface="Consolas" pitchFamily="34" charset="-122"/>
                <a:cs typeface="Consolas" pitchFamily="34" charset="-120"/>
              </a:rPr>
              <a:t>spec.md in</a:t>
            </a:r>
            <a:endParaRPr lang="en-US" sz="1200" dirty="0"/>
          </a:p>
        </p:txBody>
      </p:sp>
      <p:sp>
        <p:nvSpPr>
          <p:cNvPr id="31" name="Text 29"/>
          <p:cNvSpPr txBox="1"/>
          <p:nvPr/>
        </p:nvSpPr>
        <p:spPr>
          <a:xfrm>
            <a:off x="9357055" y="2304288"/>
            <a:ext cx="2286000" cy="274320"/>
          </a:xfrm>
          <a:prstGeom prst="rect">
            <a:avLst/>
          </a:prstGeom>
          <a:noFill/>
          <a:ln/>
        </p:spPr>
        <p:txBody>
          <a:bodyPr wrap="square" lIns="0" tIns="0" rIns="0" bIns="0" rtlCol="0" anchor="ctr"/>
          <a:lstStyle/>
          <a:p>
            <a:pPr algn="r" indent="0" marL="0">
              <a:buNone/>
            </a:pPr>
            <a:r>
              <a:rPr lang="en-US" sz="1200" dirty="0">
                <a:solidFill>
                  <a:srgbClr val="7D8694"/>
                </a:solidFill>
                <a:latin typeface="Consolas" pitchFamily="34" charset="0"/>
                <a:ea typeface="Consolas" pitchFamily="34" charset="-122"/>
                <a:cs typeface="Consolas" pitchFamily="34" charset="-120"/>
              </a:rPr>
              <a:t>strategy.py out</a:t>
            </a:r>
            <a:endParaRPr lang="en-US" sz="1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B44A12"/>
                </a:solidFill>
                <a:latin typeface="Consolas" pitchFamily="34" charset="0"/>
                <a:ea typeface="Consolas" pitchFamily="34" charset="-122"/>
                <a:cs typeface="Consolas" pitchFamily="34" charset="-120"/>
              </a:rPr>
              <a:t>HOW WE BUILT IT</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14171C"/>
                </a:solidFill>
                <a:latin typeface="Century Gothic" pitchFamily="34" charset="0"/>
                <a:ea typeface="Century Gothic" pitchFamily="34" charset="-122"/>
                <a:cs typeface="Century Gothic" pitchFamily="34" charset="-120"/>
              </a:rPr>
              <a:t>Built like it works: measure, decide, repeat</a:t>
            </a:r>
            <a:endParaRPr lang="en-US" sz="3400" dirty="0"/>
          </a:p>
        </p:txBody>
      </p:sp>
      <p:sp>
        <p:nvSpPr>
          <p:cNvPr id="4" name="Text 2"/>
          <p:cNvSpPr txBox="1"/>
          <p:nvPr/>
        </p:nvSpPr>
        <p:spPr>
          <a:xfrm>
            <a:off x="548640" y="1874520"/>
            <a:ext cx="3108960" cy="685800"/>
          </a:xfrm>
          <a:prstGeom prst="rect">
            <a:avLst/>
          </a:prstGeom>
          <a:noFill/>
          <a:ln/>
        </p:spPr>
        <p:txBody>
          <a:bodyPr wrap="square" lIns="0" tIns="0" rIns="0" bIns="0" rtlCol="0" anchor="ctr"/>
          <a:lstStyle/>
          <a:p>
            <a:pPr indent="0" marL="0">
              <a:buNone/>
            </a:pPr>
            <a:r>
              <a:rPr lang="en-US" sz="4000" b="1" dirty="0">
                <a:solidFill>
                  <a:srgbClr val="B44A12"/>
                </a:solidFill>
                <a:latin typeface="Century Gothic" pitchFamily="34" charset="0"/>
                <a:ea typeface="Century Gothic" pitchFamily="34" charset="-122"/>
                <a:cs typeface="Century Gothic" pitchFamily="34" charset="-120"/>
              </a:rPr>
              <a:t>10</a:t>
            </a:r>
            <a:endParaRPr lang="en-US" sz="4000" dirty="0"/>
          </a:p>
        </p:txBody>
      </p:sp>
      <p:sp>
        <p:nvSpPr>
          <p:cNvPr id="5" name="Text 3"/>
          <p:cNvSpPr txBox="1"/>
          <p:nvPr/>
        </p:nvSpPr>
        <p:spPr>
          <a:xfrm>
            <a:off x="548640" y="2560320"/>
            <a:ext cx="3108960" cy="5029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games, 4 never tuned on</a:t>
            </a:r>
            <a:endParaRPr lang="en-US" sz="1400" dirty="0"/>
          </a:p>
        </p:txBody>
      </p:sp>
      <p:sp>
        <p:nvSpPr>
          <p:cNvPr id="6" name="Text 4"/>
          <p:cNvSpPr txBox="1"/>
          <p:nvPr/>
        </p:nvSpPr>
        <p:spPr>
          <a:xfrm>
            <a:off x="548640" y="3246120"/>
            <a:ext cx="3108960" cy="685800"/>
          </a:xfrm>
          <a:prstGeom prst="rect">
            <a:avLst/>
          </a:prstGeom>
          <a:noFill/>
          <a:ln/>
        </p:spPr>
        <p:txBody>
          <a:bodyPr wrap="square" lIns="0" tIns="0" rIns="0" bIns="0" rtlCol="0" anchor="ctr"/>
          <a:lstStyle/>
          <a:p>
            <a:pPr indent="0" marL="0">
              <a:buNone/>
            </a:pPr>
            <a:r>
              <a:rPr lang="en-US" sz="4000" b="1" dirty="0">
                <a:solidFill>
                  <a:srgbClr val="B44A12"/>
                </a:solidFill>
                <a:latin typeface="Century Gothic" pitchFamily="34" charset="0"/>
                <a:ea typeface="Century Gothic" pitchFamily="34" charset="-122"/>
                <a:cs typeface="Century Gothic" pitchFamily="34" charset="-120"/>
              </a:rPr>
              <a:t>120+</a:t>
            </a:r>
            <a:endParaRPr lang="en-US" sz="4000" dirty="0"/>
          </a:p>
        </p:txBody>
      </p:sp>
      <p:sp>
        <p:nvSpPr>
          <p:cNvPr id="7" name="Text 5"/>
          <p:cNvSpPr txBox="1"/>
          <p:nvPr/>
        </p:nvSpPr>
        <p:spPr>
          <a:xfrm>
            <a:off x="548640" y="3931920"/>
            <a:ext cx="3108960" cy="5029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measured runs</a:t>
            </a:r>
            <a:endParaRPr lang="en-US" sz="1400" dirty="0"/>
          </a:p>
        </p:txBody>
      </p:sp>
      <p:sp>
        <p:nvSpPr>
          <p:cNvPr id="8" name="Text 6"/>
          <p:cNvSpPr txBox="1"/>
          <p:nvPr/>
        </p:nvSpPr>
        <p:spPr>
          <a:xfrm>
            <a:off x="548640" y="4617720"/>
            <a:ext cx="3108960" cy="685800"/>
          </a:xfrm>
          <a:prstGeom prst="rect">
            <a:avLst/>
          </a:prstGeom>
          <a:noFill/>
          <a:ln/>
        </p:spPr>
        <p:txBody>
          <a:bodyPr wrap="square" lIns="0" tIns="0" rIns="0" bIns="0" rtlCol="0" anchor="ctr"/>
          <a:lstStyle/>
          <a:p>
            <a:pPr indent="0" marL="0">
              <a:buNone/>
            </a:pPr>
            <a:r>
              <a:rPr lang="en-US" sz="4000" b="1" dirty="0">
                <a:solidFill>
                  <a:srgbClr val="B44A12"/>
                </a:solidFill>
                <a:latin typeface="Century Gothic" pitchFamily="34" charset="0"/>
                <a:ea typeface="Century Gothic" pitchFamily="34" charset="-122"/>
                <a:cs typeface="Century Gothic" pitchFamily="34" charset="-120"/>
              </a:rPr>
              <a:t>≈ $45</a:t>
            </a:r>
            <a:endParaRPr lang="en-US" sz="4000" dirty="0"/>
          </a:p>
        </p:txBody>
      </p:sp>
      <p:sp>
        <p:nvSpPr>
          <p:cNvPr id="9" name="Text 7"/>
          <p:cNvSpPr txBox="1"/>
          <p:nvPr/>
        </p:nvSpPr>
        <p:spPr>
          <a:xfrm>
            <a:off x="548640" y="5303520"/>
            <a:ext cx="3108960" cy="5029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API cost</a:t>
            </a:r>
            <a:endParaRPr lang="en-US" sz="1400" dirty="0"/>
          </a:p>
        </p:txBody>
      </p:sp>
      <p:sp>
        <p:nvSpPr>
          <p:cNvPr id="10" name="Text 8"/>
          <p:cNvSpPr txBox="1"/>
          <p:nvPr/>
        </p:nvSpPr>
        <p:spPr>
          <a:xfrm>
            <a:off x="4160520" y="1828800"/>
            <a:ext cx="7482535" cy="548640"/>
          </a:xfrm>
          <a:prstGeom prst="rect">
            <a:avLst/>
          </a:prstGeom>
          <a:noFill/>
          <a:ln/>
        </p:spPr>
        <p:txBody>
          <a:bodyPr wrap="square" lIns="0" tIns="0" rIns="0" bIns="0" rtlCol="0" anchor="t"/>
          <a:lstStyle/>
          <a:p>
            <a:pPr indent="0" marL="0">
              <a:buNone/>
            </a:pPr>
            <a:r>
              <a:rPr lang="en-US" sz="1600" dirty="0">
                <a:solidFill>
                  <a:srgbClr val="14171C"/>
                </a:solidFill>
                <a:latin typeface="Calibri" pitchFamily="34" charset="0"/>
                <a:ea typeface="Calibri" pitchFamily="34" charset="-122"/>
                <a:cs typeface="Calibri" pitchFamily="34" charset="-120"/>
              </a:rPr>
              <a:t>Built with Claude Code  ·  416 automated tests</a:t>
            </a:r>
            <a:endParaRPr lang="en-US" sz="1600" dirty="0"/>
          </a:p>
        </p:txBody>
      </p:sp>
      <p:sp>
        <p:nvSpPr>
          <p:cNvPr id="11" name="epoch 1"/>
          <p:cNvSpPr/>
          <p:nvPr/>
        </p:nvSpPr>
        <p:spPr>
          <a:xfrm>
            <a:off x="4160520" y="2560320"/>
            <a:ext cx="7482535" cy="1024128"/>
          </a:xfrm>
          <a:prstGeom prst="roundRect">
            <a:avLst>
              <a:gd name="adj" fmla="val 89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12" name="Text 10"/>
          <p:cNvSpPr txBox="1"/>
          <p:nvPr/>
        </p:nvSpPr>
        <p:spPr>
          <a:xfrm>
            <a:off x="4434840" y="2743200"/>
            <a:ext cx="1188720" cy="320040"/>
          </a:xfrm>
          <a:prstGeom prst="rect">
            <a:avLst/>
          </a:prstGeom>
          <a:noFill/>
          <a:ln/>
        </p:spPr>
        <p:txBody>
          <a:bodyPr wrap="square" lIns="0" tIns="0" rIns="0" bIns="0" rtlCol="0" anchor="ctr"/>
          <a:lstStyle/>
          <a:p>
            <a:pPr indent="0" marL="0">
              <a:buNone/>
            </a:pPr>
            <a:r>
              <a:rPr lang="en-US" sz="1200" b="1" dirty="0">
                <a:solidFill>
                  <a:srgbClr val="B44A12"/>
                </a:solidFill>
                <a:latin typeface="Consolas" pitchFamily="34" charset="0"/>
                <a:ea typeface="Consolas" pitchFamily="34" charset="-122"/>
                <a:cs typeface="Consolas" pitchFamily="34" charset="-120"/>
              </a:rPr>
              <a:t>EPOCH 1</a:t>
            </a:r>
            <a:endParaRPr lang="en-US" sz="1200" dirty="0"/>
          </a:p>
        </p:txBody>
      </p:sp>
      <p:sp>
        <p:nvSpPr>
          <p:cNvPr id="13" name="Text 11"/>
          <p:cNvSpPr txBox="1"/>
          <p:nvPr/>
        </p:nvSpPr>
        <p:spPr>
          <a:xfrm>
            <a:off x="5669280" y="2706624"/>
            <a:ext cx="5699455" cy="365760"/>
          </a:xfrm>
          <a:prstGeom prst="rect">
            <a:avLst/>
          </a:prstGeom>
          <a:noFill/>
          <a:ln/>
        </p:spPr>
        <p:txBody>
          <a:bodyPr wrap="square" lIns="0" tIns="0" rIns="0" bIns="0" rtlCol="0" anchor="ctr"/>
          <a:lstStyle/>
          <a:p>
            <a:pPr indent="0" marL="0">
              <a:buNone/>
            </a:pPr>
            <a:r>
              <a:rPr lang="en-US" sz="1800" b="1" dirty="0">
                <a:solidFill>
                  <a:srgbClr val="14171C"/>
                </a:solidFill>
                <a:latin typeface="Century Gothic" pitchFamily="34" charset="0"/>
                <a:ea typeface="Century Gothic" pitchFamily="34" charset="-122"/>
                <a:cs typeface="Century Gothic" pitchFamily="34" charset="-120"/>
              </a:rPr>
              <a:t>Ablation</a:t>
            </a:r>
            <a:endParaRPr lang="en-US" sz="1800" dirty="0"/>
          </a:p>
        </p:txBody>
      </p:sp>
      <p:sp>
        <p:nvSpPr>
          <p:cNvPr id="14" name="Text 12"/>
          <p:cNvSpPr txBox="1"/>
          <p:nvPr/>
        </p:nvSpPr>
        <p:spPr>
          <a:xfrm>
            <a:off x="5669280" y="3072384"/>
            <a:ext cx="5699455" cy="45720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kept only what wins</a:t>
            </a:r>
            <a:endParaRPr lang="en-US" sz="1400" dirty="0"/>
          </a:p>
        </p:txBody>
      </p:sp>
      <p:sp>
        <p:nvSpPr>
          <p:cNvPr id="15" name="epoch 2"/>
          <p:cNvSpPr/>
          <p:nvPr/>
        </p:nvSpPr>
        <p:spPr>
          <a:xfrm>
            <a:off x="4160520" y="3749040"/>
            <a:ext cx="7482535" cy="1024128"/>
          </a:xfrm>
          <a:prstGeom prst="roundRect">
            <a:avLst>
              <a:gd name="adj" fmla="val 89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16" name="Text 14"/>
          <p:cNvSpPr txBox="1"/>
          <p:nvPr/>
        </p:nvSpPr>
        <p:spPr>
          <a:xfrm>
            <a:off x="4434840" y="3931920"/>
            <a:ext cx="1188720" cy="320040"/>
          </a:xfrm>
          <a:prstGeom prst="rect">
            <a:avLst/>
          </a:prstGeom>
          <a:noFill/>
          <a:ln/>
        </p:spPr>
        <p:txBody>
          <a:bodyPr wrap="square" lIns="0" tIns="0" rIns="0" bIns="0" rtlCol="0" anchor="ctr"/>
          <a:lstStyle/>
          <a:p>
            <a:pPr indent="0" marL="0">
              <a:buNone/>
            </a:pPr>
            <a:r>
              <a:rPr lang="en-US" sz="1200" b="1" dirty="0">
                <a:solidFill>
                  <a:srgbClr val="B44A12"/>
                </a:solidFill>
                <a:latin typeface="Consolas" pitchFamily="34" charset="0"/>
                <a:ea typeface="Consolas" pitchFamily="34" charset="-122"/>
                <a:cs typeface="Consolas" pitchFamily="34" charset="-120"/>
              </a:rPr>
              <a:t>EPOCH 2</a:t>
            </a:r>
            <a:endParaRPr lang="en-US" sz="1200" dirty="0"/>
          </a:p>
        </p:txBody>
      </p:sp>
      <p:sp>
        <p:nvSpPr>
          <p:cNvPr id="17" name="Text 15"/>
          <p:cNvSpPr txBox="1"/>
          <p:nvPr/>
        </p:nvSpPr>
        <p:spPr>
          <a:xfrm>
            <a:off x="5669280" y="3895344"/>
            <a:ext cx="5699455" cy="365760"/>
          </a:xfrm>
          <a:prstGeom prst="rect">
            <a:avLst/>
          </a:prstGeom>
          <a:noFill/>
          <a:ln/>
        </p:spPr>
        <p:txBody>
          <a:bodyPr wrap="square" lIns="0" tIns="0" rIns="0" bIns="0" rtlCol="0" anchor="ctr"/>
          <a:lstStyle/>
          <a:p>
            <a:pPr indent="0" marL="0">
              <a:buNone/>
            </a:pPr>
            <a:r>
              <a:rPr lang="en-US" sz="1800" b="1" dirty="0">
                <a:solidFill>
                  <a:srgbClr val="14171C"/>
                </a:solidFill>
                <a:latin typeface="Century Gothic" pitchFamily="34" charset="0"/>
                <a:ea typeface="Century Gothic" pitchFamily="34" charset="-122"/>
                <a:cs typeface="Century Gothic" pitchFamily="34" charset="-120"/>
              </a:rPr>
              <a:t>Tournament conditions</a:t>
            </a:r>
            <a:endParaRPr lang="en-US" sz="1800" dirty="0"/>
          </a:p>
        </p:txBody>
      </p:sp>
      <p:sp>
        <p:nvSpPr>
          <p:cNvPr id="18" name="Text 16"/>
          <p:cNvSpPr txBox="1"/>
          <p:nvPr/>
        </p:nvSpPr>
        <p:spPr>
          <a:xfrm>
            <a:off x="5669280" y="4261104"/>
            <a:ext cx="5699455" cy="45720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selection = reality</a:t>
            </a:r>
            <a:endParaRPr lang="en-US" sz="1400" dirty="0"/>
          </a:p>
        </p:txBody>
      </p:sp>
      <p:sp>
        <p:nvSpPr>
          <p:cNvPr id="19" name="epoch 3"/>
          <p:cNvSpPr/>
          <p:nvPr/>
        </p:nvSpPr>
        <p:spPr>
          <a:xfrm>
            <a:off x="4160520" y="4937760"/>
            <a:ext cx="7482535" cy="1024128"/>
          </a:xfrm>
          <a:prstGeom prst="roundRect">
            <a:avLst>
              <a:gd name="adj" fmla="val 89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20" name="Text 18"/>
          <p:cNvSpPr txBox="1"/>
          <p:nvPr/>
        </p:nvSpPr>
        <p:spPr>
          <a:xfrm>
            <a:off x="4434840" y="5120640"/>
            <a:ext cx="1188720" cy="320040"/>
          </a:xfrm>
          <a:prstGeom prst="rect">
            <a:avLst/>
          </a:prstGeom>
          <a:noFill/>
          <a:ln/>
        </p:spPr>
        <p:txBody>
          <a:bodyPr wrap="square" lIns="0" tIns="0" rIns="0" bIns="0" rtlCol="0" anchor="ctr"/>
          <a:lstStyle/>
          <a:p>
            <a:pPr indent="0" marL="0">
              <a:buNone/>
            </a:pPr>
            <a:r>
              <a:rPr lang="en-US" sz="1200" b="1" dirty="0">
                <a:solidFill>
                  <a:srgbClr val="B44A12"/>
                </a:solidFill>
                <a:latin typeface="Consolas" pitchFamily="34" charset="0"/>
                <a:ea typeface="Consolas" pitchFamily="34" charset="-122"/>
                <a:cs typeface="Consolas" pitchFamily="34" charset="-120"/>
              </a:rPr>
              <a:t>EPOCH 3</a:t>
            </a:r>
            <a:endParaRPr lang="en-US" sz="1200" dirty="0"/>
          </a:p>
        </p:txBody>
      </p:sp>
      <p:sp>
        <p:nvSpPr>
          <p:cNvPr id="21" name="Text 19"/>
          <p:cNvSpPr txBox="1"/>
          <p:nvPr/>
        </p:nvSpPr>
        <p:spPr>
          <a:xfrm>
            <a:off x="5669280" y="5084064"/>
            <a:ext cx="5699455" cy="365760"/>
          </a:xfrm>
          <a:prstGeom prst="rect">
            <a:avLst/>
          </a:prstGeom>
          <a:noFill/>
          <a:ln/>
        </p:spPr>
        <p:txBody>
          <a:bodyPr wrap="square" lIns="0" tIns="0" rIns="0" bIns="0" rtlCol="0" anchor="ctr"/>
          <a:lstStyle/>
          <a:p>
            <a:pPr indent="0" marL="0">
              <a:buNone/>
            </a:pPr>
            <a:r>
              <a:rPr lang="en-US" sz="1800" b="1" dirty="0">
                <a:solidFill>
                  <a:srgbClr val="14171C"/>
                </a:solidFill>
                <a:latin typeface="Century Gothic" pitchFamily="34" charset="0"/>
                <a:ea typeface="Century Gothic" pitchFamily="34" charset="-122"/>
                <a:cs typeface="Century Gothic" pitchFamily="34" charset="-120"/>
              </a:rPr>
              <a:t>Midpoint feedback</a:t>
            </a:r>
            <a:endParaRPr lang="en-US" sz="1800" dirty="0"/>
          </a:p>
        </p:txBody>
      </p:sp>
      <p:sp>
        <p:nvSpPr>
          <p:cNvPr id="22" name="Text 20"/>
          <p:cNvSpPr txBox="1"/>
          <p:nvPr/>
        </p:nvSpPr>
        <p:spPr>
          <a:xfrm>
            <a:off x="5669280" y="5449824"/>
            <a:ext cx="5699455" cy="45720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weak runs traced and fixed</a:t>
            </a:r>
            <a:endParaRPr lang="en-US" sz="1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3A2010"/>
                </a:solidFill>
                <a:latin typeface="Consolas" pitchFamily="34" charset="0"/>
                <a:ea typeface="Consolas" pitchFamily="34" charset="-122"/>
                <a:cs typeface="Consolas" pitchFamily="34" charset="-120"/>
              </a:rPr>
              <a:t>THE ORGANISERS’ MIDPOINT EVALUATION</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0F1218"/>
                </a:solidFill>
                <a:latin typeface="Century Gothic" pitchFamily="34" charset="0"/>
                <a:ea typeface="Century Gothic" pitchFamily="34" charset="-122"/>
                <a:cs typeface="Century Gothic" pitchFamily="34" charset="-120"/>
              </a:rPr>
              <a:t>Our best strategy topped the hidden game</a:t>
            </a:r>
            <a:endParaRPr lang="en-US" sz="3400" dirty="0"/>
          </a:p>
        </p:txBody>
      </p:sp>
      <p:sp>
        <p:nvSpPr>
          <p:cNvPr id="4" name="Text 2"/>
          <p:cNvSpPr txBox="1"/>
          <p:nvPr/>
        </p:nvSpPr>
        <p:spPr>
          <a:xfrm>
            <a:off x="548640" y="2377440"/>
            <a:ext cx="3520440" cy="1097280"/>
          </a:xfrm>
          <a:prstGeom prst="rect">
            <a:avLst/>
          </a:prstGeom>
          <a:noFill/>
          <a:ln/>
        </p:spPr>
        <p:txBody>
          <a:bodyPr wrap="square" lIns="0" tIns="0" rIns="0" bIns="0" rtlCol="0" anchor="ctr"/>
          <a:lstStyle/>
          <a:p>
            <a:pPr indent="0" marL="0">
              <a:buNone/>
            </a:pPr>
            <a:r>
              <a:rPr lang="en-US" sz="5600" b="1" dirty="0">
                <a:solidFill>
                  <a:srgbClr val="0F1218"/>
                </a:solidFill>
                <a:latin typeface="Century Gothic" pitchFamily="34" charset="0"/>
                <a:ea typeface="Century Gothic" pitchFamily="34" charset="-122"/>
                <a:cs typeface="Century Gothic" pitchFamily="34" charset="-120"/>
              </a:rPr>
              <a:t>#1 of 20</a:t>
            </a:r>
            <a:endParaRPr lang="en-US" sz="5600" dirty="0"/>
          </a:p>
        </p:txBody>
      </p:sp>
      <p:sp>
        <p:nvSpPr>
          <p:cNvPr id="5" name="Shape 3"/>
          <p:cNvSpPr/>
          <p:nvPr/>
        </p:nvSpPr>
        <p:spPr>
          <a:xfrm>
            <a:off x="548640" y="3657600"/>
            <a:ext cx="1097280" cy="0"/>
          </a:xfrm>
          <a:prstGeom prst="line">
            <a:avLst/>
          </a:prstGeom>
          <a:noFill/>
          <a:ln w="25400">
            <a:solidFill>
              <a:srgbClr val="0F1218"/>
            </a:solidFill>
            <a:prstDash val="solid"/>
          </a:ln>
        </p:spPr>
      </p:sp>
      <p:sp>
        <p:nvSpPr>
          <p:cNvPr id="6" name="Text 4"/>
          <p:cNvSpPr txBox="1"/>
          <p:nvPr/>
        </p:nvSpPr>
        <p:spPr>
          <a:xfrm>
            <a:off x="548640" y="3886200"/>
            <a:ext cx="3337560" cy="822960"/>
          </a:xfrm>
          <a:prstGeom prst="rect">
            <a:avLst/>
          </a:prstGeom>
          <a:noFill/>
          <a:ln/>
        </p:spPr>
        <p:txBody>
          <a:bodyPr wrap="square" lIns="0" tIns="0" rIns="0" bIns="0" rtlCol="0" anchor="t"/>
          <a:lstStyle/>
          <a:p>
            <a:pPr indent="0" marL="0">
              <a:buNone/>
            </a:pPr>
            <a:r>
              <a:rPr lang="en-US" sz="2000" dirty="0">
                <a:solidFill>
                  <a:srgbClr val="2A1408"/>
                </a:solidFill>
                <a:latin typeface="Calibri" pitchFamily="34" charset="0"/>
                <a:ea typeface="Calibri" pitchFamily="34" charset="-122"/>
                <a:cs typeface="Calibri" pitchFamily="34" charset="-120"/>
              </a:rPr>
              <a:t>strategies on the hidden game (94.8% won)</a:t>
            </a:r>
            <a:endParaRPr lang="en-US" sz="2000" dirty="0"/>
          </a:p>
        </p:txBody>
      </p:sp>
      <p:sp>
        <p:nvSpPr>
          <p:cNvPr id="7" name="Text 5"/>
          <p:cNvSpPr txBox="1"/>
          <p:nvPr/>
        </p:nvSpPr>
        <p:spPr>
          <a:xfrm>
            <a:off x="4343400" y="2377440"/>
            <a:ext cx="3520440" cy="1097280"/>
          </a:xfrm>
          <a:prstGeom prst="rect">
            <a:avLst/>
          </a:prstGeom>
          <a:noFill/>
          <a:ln/>
        </p:spPr>
        <p:txBody>
          <a:bodyPr wrap="square" lIns="0" tIns="0" rIns="0" bIns="0" rtlCol="0" anchor="ctr"/>
          <a:lstStyle/>
          <a:p>
            <a:pPr indent="0" marL="0">
              <a:buNone/>
            </a:pPr>
            <a:r>
              <a:rPr lang="en-US" sz="5600" b="1" dirty="0">
                <a:solidFill>
                  <a:srgbClr val="0F1218"/>
                </a:solidFill>
                <a:latin typeface="Century Gothic" pitchFamily="34" charset="0"/>
                <a:ea typeface="Century Gothic" pitchFamily="34" charset="-122"/>
                <a:cs typeface="Century Gothic" pitchFamily="34" charset="-120"/>
              </a:rPr>
              <a:t>2nd of 4</a:t>
            </a:r>
            <a:endParaRPr lang="en-US" sz="5600" dirty="0"/>
          </a:p>
        </p:txBody>
      </p:sp>
      <p:sp>
        <p:nvSpPr>
          <p:cNvPr id="8" name="Shape 6"/>
          <p:cNvSpPr/>
          <p:nvPr/>
        </p:nvSpPr>
        <p:spPr>
          <a:xfrm>
            <a:off x="4343400" y="3657600"/>
            <a:ext cx="1097280" cy="0"/>
          </a:xfrm>
          <a:prstGeom prst="line">
            <a:avLst/>
          </a:prstGeom>
          <a:noFill/>
          <a:ln w="25400">
            <a:solidFill>
              <a:srgbClr val="0F1218"/>
            </a:solidFill>
            <a:prstDash val="solid"/>
          </a:ln>
        </p:spPr>
      </p:sp>
      <p:sp>
        <p:nvSpPr>
          <p:cNvPr id="9" name="Text 7"/>
          <p:cNvSpPr txBox="1"/>
          <p:nvPr/>
        </p:nvSpPr>
        <p:spPr>
          <a:xfrm>
            <a:off x="4343400" y="3886200"/>
            <a:ext cx="3337560" cy="822960"/>
          </a:xfrm>
          <a:prstGeom prst="rect">
            <a:avLst/>
          </a:prstGeom>
          <a:noFill/>
          <a:ln/>
        </p:spPr>
        <p:txBody>
          <a:bodyPr wrap="square" lIns="0" tIns="0" rIns="0" bIns="0" rtlCol="0" anchor="t"/>
          <a:lstStyle/>
          <a:p>
            <a:pPr indent="0" marL="0">
              <a:buNone/>
            </a:pPr>
            <a:r>
              <a:rPr lang="en-US" sz="2000" dirty="0">
                <a:solidFill>
                  <a:srgbClr val="2A1408"/>
                </a:solidFill>
                <a:latin typeface="Calibri" pitchFamily="34" charset="0"/>
                <a:ea typeface="Calibri" pitchFamily="34" charset="-122"/>
                <a:cs typeface="Calibri" pitchFamily="34" charset="-120"/>
              </a:rPr>
              <a:t>teams overall, task B</a:t>
            </a:r>
            <a:endParaRPr lang="en-US" sz="2000" dirty="0"/>
          </a:p>
        </p:txBody>
      </p:sp>
      <p:sp>
        <p:nvSpPr>
          <p:cNvPr id="10" name="Text 8"/>
          <p:cNvSpPr txBox="1"/>
          <p:nvPr/>
        </p:nvSpPr>
        <p:spPr>
          <a:xfrm>
            <a:off x="8138160" y="2377440"/>
            <a:ext cx="3520440" cy="1097280"/>
          </a:xfrm>
          <a:prstGeom prst="rect">
            <a:avLst/>
          </a:prstGeom>
          <a:noFill/>
          <a:ln/>
        </p:spPr>
        <p:txBody>
          <a:bodyPr wrap="square" lIns="0" tIns="0" rIns="0" bIns="0" rtlCol="0" anchor="ctr"/>
          <a:lstStyle/>
          <a:p>
            <a:pPr indent="0" marL="0">
              <a:buNone/>
            </a:pPr>
            <a:r>
              <a:rPr lang="en-US" sz="5600" b="1" dirty="0">
                <a:solidFill>
                  <a:srgbClr val="0F1218"/>
                </a:solidFill>
                <a:latin typeface="Century Gothic" pitchFamily="34" charset="0"/>
                <a:ea typeface="Century Gothic" pitchFamily="34" charset="-122"/>
                <a:cs typeface="Century Gothic" pitchFamily="34" charset="-120"/>
              </a:rPr>
              <a:t>0</a:t>
            </a:r>
            <a:endParaRPr lang="en-US" sz="5600" dirty="0"/>
          </a:p>
        </p:txBody>
      </p:sp>
      <p:sp>
        <p:nvSpPr>
          <p:cNvPr id="11" name="Shape 9"/>
          <p:cNvSpPr/>
          <p:nvPr/>
        </p:nvSpPr>
        <p:spPr>
          <a:xfrm>
            <a:off x="8138160" y="3657600"/>
            <a:ext cx="1097280" cy="0"/>
          </a:xfrm>
          <a:prstGeom prst="line">
            <a:avLst/>
          </a:prstGeom>
          <a:noFill/>
          <a:ln w="25400">
            <a:solidFill>
              <a:srgbClr val="0F1218"/>
            </a:solidFill>
            <a:prstDash val="solid"/>
          </a:ln>
        </p:spPr>
      </p:sp>
      <p:sp>
        <p:nvSpPr>
          <p:cNvPr id="12" name="Text 10"/>
          <p:cNvSpPr txBox="1"/>
          <p:nvPr/>
        </p:nvSpPr>
        <p:spPr>
          <a:xfrm>
            <a:off x="8138160" y="3886200"/>
            <a:ext cx="3337560" cy="822960"/>
          </a:xfrm>
          <a:prstGeom prst="rect">
            <a:avLst/>
          </a:prstGeom>
          <a:noFill/>
          <a:ln/>
        </p:spPr>
        <p:txBody>
          <a:bodyPr wrap="square" lIns="0" tIns="0" rIns="0" bIns="0" rtlCol="0" anchor="t"/>
          <a:lstStyle/>
          <a:p>
            <a:pPr indent="0" marL="0">
              <a:buNone/>
            </a:pPr>
            <a:r>
              <a:rPr lang="en-US" sz="2000" dirty="0">
                <a:solidFill>
                  <a:srgbClr val="2A1408"/>
                </a:solidFill>
                <a:latin typeface="Calibri" pitchFamily="34" charset="0"/>
                <a:ea typeface="Calibri" pitchFamily="34" charset="-122"/>
                <a:cs typeface="Calibri" pitchFamily="34" charset="-120"/>
              </a:rPr>
              <a:t>forfeits in 112 delivered strategies</a:t>
            </a:r>
            <a:endParaRPr lang="en-US" sz="2000" dirty="0"/>
          </a:p>
        </p:txBody>
      </p:sp>
      <p:sp>
        <p:nvSpPr>
          <p:cNvPr id="13" name="Text 11"/>
          <p:cNvSpPr txBox="1"/>
          <p:nvPr/>
        </p:nvSpPr>
        <p:spPr>
          <a:xfrm>
            <a:off x="548640" y="5349240"/>
            <a:ext cx="10881360" cy="685800"/>
          </a:xfrm>
          <a:prstGeom prst="rect">
            <a:avLst/>
          </a:prstGeom>
          <a:noFill/>
          <a:ln/>
        </p:spPr>
        <p:txBody>
          <a:bodyPr wrap="square" lIns="0" tIns="0" rIns="0" bIns="0" rtlCol="0" anchor="t"/>
          <a:lstStyle/>
          <a:p>
            <a:pPr indent="0" marL="0">
              <a:buNone/>
            </a:pPr>
            <a:r>
              <a:rPr lang="en-US" sz="1800" dirty="0">
                <a:solidFill>
                  <a:srgbClr val="2A1408"/>
                </a:solidFill>
                <a:latin typeface="Calibri" pitchFamily="34" charset="0"/>
                <a:ea typeface="Calibri" pitchFamily="34" charset="-122"/>
                <a:cs typeface="Calibri" pitchFamily="34" charset="-120"/>
              </a:rPr>
              <a:t>Weak runs traced to our simulator check and fixed. On fresh, untuned games the final harness beats the one-shot baseline 36–0–12 and 48–0–0.</a:t>
            </a:r>
            <a:endParaRPr lang="en-US" sz="18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3A2010"/>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FF7A33"/>
                </a:solidFill>
                <a:latin typeface="Consolas" pitchFamily="34" charset="0"/>
                <a:ea typeface="Consolas" pitchFamily="34" charset="-122"/>
                <a:cs typeface="Consolas" pitchFamily="34" charset="-120"/>
              </a:rPr>
              <a:t>DEMO · ONE REAL RUN, FROM SPEC TO STRATEGY.PY</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F3F0E8"/>
                </a:solidFill>
                <a:latin typeface="Century Gothic" pitchFamily="34" charset="0"/>
                <a:ea typeface="Century Gothic" pitchFamily="34" charset="-122"/>
                <a:cs typeface="Century Gothic" pitchFamily="34" charset="-120"/>
              </a:rPr>
              <a:t>141 seconds, 1.8 cents, one champion</a:t>
            </a:r>
            <a:endParaRPr lang="en-US" sz="3400" dirty="0"/>
          </a:p>
        </p:txBody>
      </p:sp>
      <p:sp>
        <p:nvSpPr>
          <p:cNvPr id="4" name="axis"/>
          <p:cNvSpPr/>
          <p:nvPr/>
        </p:nvSpPr>
        <p:spPr>
          <a:xfrm>
            <a:off x="822960" y="3337560"/>
            <a:ext cx="10515600" cy="91440"/>
          </a:xfrm>
          <a:prstGeom prst="roundRect">
            <a:avLst>
              <a:gd name="adj" fmla="val 50000"/>
            </a:avLst>
          </a:prstGeom>
          <a:solidFill>
            <a:srgbClr val="2A313C"/>
          </a:solidFill>
          <a:ln w="12700">
            <a:solidFill>
              <a:srgbClr val="2A313C"/>
            </a:solidFill>
            <a:prstDash val="solid"/>
          </a:ln>
        </p:spPr>
      </p:sp>
      <p:sp>
        <p:nvSpPr>
          <p:cNvPr id="5" name="progress"/>
          <p:cNvSpPr/>
          <p:nvPr/>
        </p:nvSpPr>
        <p:spPr>
          <a:xfrm>
            <a:off x="822960" y="3337560"/>
            <a:ext cx="8237220" cy="91440"/>
          </a:xfrm>
          <a:prstGeom prst="roundRect">
            <a:avLst>
              <a:gd name="adj" fmla="val 50000"/>
            </a:avLst>
          </a:prstGeom>
          <a:solidFill>
            <a:srgbClr val="FF7A33"/>
          </a:solidFill>
          <a:ln w="12700">
            <a:solidFill>
              <a:srgbClr val="FF7A33"/>
            </a:solidFill>
            <a:prstDash val="solid"/>
          </a:ln>
        </p:spPr>
      </p:sp>
      <p:sp>
        <p:nvSpPr>
          <p:cNvPr id="6" name="Text 4"/>
          <p:cNvSpPr txBox="1"/>
          <p:nvPr/>
        </p:nvSpPr>
        <p:spPr>
          <a:xfrm>
            <a:off x="548640" y="3566160"/>
            <a:ext cx="548640" cy="274320"/>
          </a:xfrm>
          <a:prstGeom prst="rect">
            <a:avLst/>
          </a:prstGeom>
          <a:noFill/>
          <a:ln/>
        </p:spPr>
        <p:txBody>
          <a:bodyPr wrap="square" lIns="0" tIns="0" rIns="0" bIns="0" rtlCol="0" anchor="ctr"/>
          <a:lstStyle/>
          <a:p>
            <a:pPr algn="ctr" indent="0" marL="0">
              <a:buNone/>
            </a:pPr>
            <a:r>
              <a:rPr lang="en-US" sz="1200" dirty="0">
                <a:solidFill>
                  <a:srgbClr val="7D8694"/>
                </a:solidFill>
                <a:latin typeface="Consolas" pitchFamily="34" charset="0"/>
                <a:ea typeface="Consolas" pitchFamily="34" charset="-122"/>
                <a:cs typeface="Consolas" pitchFamily="34" charset="-120"/>
              </a:rPr>
              <a:t>0 s</a:t>
            </a:r>
            <a:endParaRPr lang="en-US" sz="1200" dirty="0"/>
          </a:p>
        </p:txBody>
      </p:sp>
      <p:sp>
        <p:nvSpPr>
          <p:cNvPr id="7" name="Text 5"/>
          <p:cNvSpPr txBox="1"/>
          <p:nvPr/>
        </p:nvSpPr>
        <p:spPr>
          <a:xfrm>
            <a:off x="9692640" y="3566160"/>
            <a:ext cx="1645920" cy="274320"/>
          </a:xfrm>
          <a:prstGeom prst="rect">
            <a:avLst/>
          </a:prstGeom>
          <a:noFill/>
          <a:ln/>
        </p:spPr>
        <p:txBody>
          <a:bodyPr wrap="square" lIns="0" tIns="0" rIns="0" bIns="0" rtlCol="0" anchor="ctr"/>
          <a:lstStyle/>
          <a:p>
            <a:pPr algn="r" indent="0" marL="0">
              <a:buNone/>
            </a:pPr>
            <a:r>
              <a:rPr lang="en-US" sz="1200" dirty="0">
                <a:solidFill>
                  <a:srgbClr val="7D8694"/>
                </a:solidFill>
                <a:latin typeface="Consolas" pitchFamily="34" charset="0"/>
                <a:ea typeface="Consolas" pitchFamily="34" charset="-122"/>
                <a:cs typeface="Consolas" pitchFamily="34" charset="-120"/>
              </a:rPr>
              <a:t>deadline 180 s</a:t>
            </a:r>
            <a:endParaRPr lang="en-US" sz="1200" dirty="0"/>
          </a:p>
        </p:txBody>
      </p:sp>
      <p:sp>
        <p:nvSpPr>
          <p:cNvPr id="8" name="event 24"/>
          <p:cNvSpPr/>
          <p:nvPr/>
        </p:nvSpPr>
        <p:spPr>
          <a:xfrm>
            <a:off x="2124456" y="3282696"/>
            <a:ext cx="201168" cy="201168"/>
          </a:xfrm>
          <a:prstGeom prst="ellipse">
            <a:avLst/>
          </a:prstGeom>
          <a:solidFill>
            <a:srgbClr val="FF7A33"/>
          </a:solidFill>
          <a:ln w="25400">
            <a:solidFill>
              <a:srgbClr val="FF7A33"/>
            </a:solidFill>
            <a:prstDash val="solid"/>
          </a:ln>
        </p:spPr>
      </p:sp>
      <p:sp>
        <p:nvSpPr>
          <p:cNvPr id="9" name="Text 7"/>
          <p:cNvSpPr txBox="1"/>
          <p:nvPr/>
        </p:nvSpPr>
        <p:spPr>
          <a:xfrm>
            <a:off x="2124456" y="224028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24 s</a:t>
            </a:r>
            <a:endParaRPr lang="en-US" sz="1400" dirty="0"/>
          </a:p>
        </p:txBody>
      </p:sp>
      <p:sp>
        <p:nvSpPr>
          <p:cNvPr id="10" name="Text 8"/>
          <p:cNvSpPr txBox="1"/>
          <p:nvPr/>
        </p:nvSpPr>
        <p:spPr>
          <a:xfrm>
            <a:off x="2124456" y="255117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first draft leads</a:t>
            </a:r>
            <a:endParaRPr lang="en-US" sz="1400" dirty="0"/>
          </a:p>
        </p:txBody>
      </p:sp>
      <p:sp>
        <p:nvSpPr>
          <p:cNvPr id="11" name="event 35"/>
          <p:cNvSpPr/>
          <p:nvPr/>
        </p:nvSpPr>
        <p:spPr>
          <a:xfrm>
            <a:off x="2767076" y="3282696"/>
            <a:ext cx="201168" cy="201168"/>
          </a:xfrm>
          <a:prstGeom prst="ellipse">
            <a:avLst/>
          </a:prstGeom>
          <a:solidFill>
            <a:srgbClr val="0F1218"/>
          </a:solidFill>
          <a:ln w="25400">
            <a:solidFill>
              <a:srgbClr val="FF7A33"/>
            </a:solidFill>
            <a:prstDash val="solid"/>
          </a:ln>
        </p:spPr>
      </p:sp>
      <p:sp>
        <p:nvSpPr>
          <p:cNvPr id="12" name="Text 10"/>
          <p:cNvSpPr txBox="1"/>
          <p:nvPr/>
        </p:nvSpPr>
        <p:spPr>
          <a:xfrm>
            <a:off x="2767076" y="388620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35 s</a:t>
            </a:r>
            <a:endParaRPr lang="en-US" sz="1400" dirty="0"/>
          </a:p>
        </p:txBody>
      </p:sp>
      <p:sp>
        <p:nvSpPr>
          <p:cNvPr id="13" name="Text 11"/>
          <p:cNvSpPr txBox="1"/>
          <p:nvPr/>
        </p:nvSpPr>
        <p:spPr>
          <a:xfrm>
            <a:off x="2767076" y="419709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simulator fails a check</a:t>
            </a:r>
            <a:endParaRPr lang="en-US" sz="1400" dirty="0"/>
          </a:p>
        </p:txBody>
      </p:sp>
      <p:sp>
        <p:nvSpPr>
          <p:cNvPr id="14" name="event 68"/>
          <p:cNvSpPr/>
          <p:nvPr/>
        </p:nvSpPr>
        <p:spPr>
          <a:xfrm>
            <a:off x="4694936" y="3282696"/>
            <a:ext cx="201168" cy="201168"/>
          </a:xfrm>
          <a:prstGeom prst="ellipse">
            <a:avLst/>
          </a:prstGeom>
          <a:solidFill>
            <a:srgbClr val="FF7A33"/>
          </a:solidFill>
          <a:ln w="25400">
            <a:solidFill>
              <a:srgbClr val="FF7A33"/>
            </a:solidFill>
            <a:prstDash val="solid"/>
          </a:ln>
        </p:spPr>
      </p:sp>
      <p:sp>
        <p:nvSpPr>
          <p:cNvPr id="15" name="Text 13"/>
          <p:cNvSpPr txBox="1"/>
          <p:nvPr/>
        </p:nvSpPr>
        <p:spPr>
          <a:xfrm>
            <a:off x="4694936" y="224028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68 s</a:t>
            </a:r>
            <a:endParaRPr lang="en-US" sz="1400" dirty="0"/>
          </a:p>
        </p:txBody>
      </p:sp>
      <p:sp>
        <p:nvSpPr>
          <p:cNvPr id="16" name="Text 14"/>
          <p:cNvSpPr txBox="1"/>
          <p:nvPr/>
        </p:nvSpPr>
        <p:spPr>
          <a:xfrm>
            <a:off x="4694936" y="255117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simulator repaired</a:t>
            </a:r>
            <a:endParaRPr lang="en-US" sz="1400" dirty="0"/>
          </a:p>
        </p:txBody>
      </p:sp>
      <p:sp>
        <p:nvSpPr>
          <p:cNvPr id="17" name="event 98"/>
          <p:cNvSpPr/>
          <p:nvPr/>
        </p:nvSpPr>
        <p:spPr>
          <a:xfrm>
            <a:off x="6447536" y="3282696"/>
            <a:ext cx="201168" cy="201168"/>
          </a:xfrm>
          <a:prstGeom prst="ellipse">
            <a:avLst/>
          </a:prstGeom>
          <a:solidFill>
            <a:srgbClr val="FF7A33"/>
          </a:solidFill>
          <a:ln w="25400">
            <a:solidFill>
              <a:srgbClr val="FF7A33"/>
            </a:solidFill>
            <a:prstDash val="solid"/>
          </a:ln>
        </p:spPr>
      </p:sp>
      <p:sp>
        <p:nvSpPr>
          <p:cNvPr id="18" name="Text 16"/>
          <p:cNvSpPr txBox="1"/>
          <p:nvPr/>
        </p:nvSpPr>
        <p:spPr>
          <a:xfrm>
            <a:off x="6447536" y="388620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98 s</a:t>
            </a:r>
            <a:endParaRPr lang="en-US" sz="1400" dirty="0"/>
          </a:p>
        </p:txBody>
      </p:sp>
      <p:sp>
        <p:nvSpPr>
          <p:cNvPr id="19" name="Text 17"/>
          <p:cNvSpPr txBox="1"/>
          <p:nvPr/>
        </p:nvSpPr>
        <p:spPr>
          <a:xfrm>
            <a:off x="6447536" y="419709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self-play ranking</a:t>
            </a:r>
            <a:endParaRPr lang="en-US" sz="1400" dirty="0"/>
          </a:p>
        </p:txBody>
      </p:sp>
      <p:sp>
        <p:nvSpPr>
          <p:cNvPr id="20" name="event 133"/>
          <p:cNvSpPr/>
          <p:nvPr/>
        </p:nvSpPr>
        <p:spPr>
          <a:xfrm>
            <a:off x="8492236" y="3282696"/>
            <a:ext cx="201168" cy="201168"/>
          </a:xfrm>
          <a:prstGeom prst="ellipse">
            <a:avLst/>
          </a:prstGeom>
          <a:solidFill>
            <a:srgbClr val="FF7A33"/>
          </a:solidFill>
          <a:ln w="25400">
            <a:solidFill>
              <a:srgbClr val="FF7A33"/>
            </a:solidFill>
            <a:prstDash val="solid"/>
          </a:ln>
        </p:spPr>
      </p:sp>
      <p:sp>
        <p:nvSpPr>
          <p:cNvPr id="21" name="Text 19"/>
          <p:cNvSpPr txBox="1"/>
          <p:nvPr/>
        </p:nvSpPr>
        <p:spPr>
          <a:xfrm>
            <a:off x="8492236" y="224028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133 s</a:t>
            </a:r>
            <a:endParaRPr lang="en-US" sz="1400" dirty="0"/>
          </a:p>
        </p:txBody>
      </p:sp>
      <p:sp>
        <p:nvSpPr>
          <p:cNvPr id="22" name="Text 20"/>
          <p:cNvSpPr txBox="1"/>
          <p:nvPr/>
        </p:nvSpPr>
        <p:spPr>
          <a:xfrm>
            <a:off x="8492236" y="255117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a challenger joins</a:t>
            </a:r>
            <a:endParaRPr lang="en-US" sz="1400" dirty="0"/>
          </a:p>
        </p:txBody>
      </p:sp>
      <p:sp>
        <p:nvSpPr>
          <p:cNvPr id="23" name="event 141"/>
          <p:cNvSpPr/>
          <p:nvPr/>
        </p:nvSpPr>
        <p:spPr>
          <a:xfrm>
            <a:off x="8959596" y="3282696"/>
            <a:ext cx="201168" cy="201168"/>
          </a:xfrm>
          <a:prstGeom prst="ellipse">
            <a:avLst/>
          </a:prstGeom>
          <a:solidFill>
            <a:srgbClr val="FF7A33"/>
          </a:solidFill>
          <a:ln w="25400">
            <a:solidFill>
              <a:srgbClr val="FF7A33"/>
            </a:solidFill>
            <a:prstDash val="solid"/>
          </a:ln>
        </p:spPr>
      </p:sp>
      <p:sp>
        <p:nvSpPr>
          <p:cNvPr id="24" name="Text 22"/>
          <p:cNvSpPr txBox="1"/>
          <p:nvPr/>
        </p:nvSpPr>
        <p:spPr>
          <a:xfrm>
            <a:off x="8959596" y="388620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141 s</a:t>
            </a:r>
            <a:endParaRPr lang="en-US" sz="1400" dirty="0"/>
          </a:p>
        </p:txBody>
      </p:sp>
      <p:sp>
        <p:nvSpPr>
          <p:cNvPr id="25" name="Text 23"/>
          <p:cNvSpPr txBox="1"/>
          <p:nvPr/>
        </p:nvSpPr>
        <p:spPr>
          <a:xfrm>
            <a:off x="8959596" y="419709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strategy delivered</a:t>
            </a:r>
            <a:endParaRPr lang="en-US" sz="1400" dirty="0"/>
          </a:p>
        </p:txBody>
      </p:sp>
      <p:sp>
        <p:nvSpPr>
          <p:cNvPr id="26" name="Text 24"/>
          <p:cNvSpPr txBox="1"/>
          <p:nvPr/>
        </p:nvSpPr>
        <p:spPr>
          <a:xfrm>
            <a:off x="548640" y="5532120"/>
            <a:ext cx="7772400" cy="502920"/>
          </a:xfrm>
          <a:prstGeom prst="rect">
            <a:avLst/>
          </a:prstGeom>
          <a:noFill/>
          <a:ln/>
        </p:spPr>
        <p:txBody>
          <a:bodyPr wrap="square" lIns="0" tIns="0" rIns="0" bIns="0" rtlCol="0" anchor="ctr"/>
          <a:lstStyle/>
          <a:p>
            <a:pPr indent="0" marL="0">
              <a:buNone/>
            </a:pPr>
            <a:r>
              <a:rPr lang="en-US" sz="2600" b="1" dirty="0">
                <a:solidFill>
                  <a:srgbClr val="F3F0E8"/>
                </a:solidFill>
                <a:latin typeface="Century Gothic" pitchFamily="34" charset="0"/>
                <a:ea typeface="Century Gothic" pitchFamily="34" charset="-122"/>
                <a:cs typeface="Century Gothic" pitchFamily="34" charset="-120"/>
              </a:rPr>
              <a:t>Spec in. Strategy out. Never a forfeit.</a:t>
            </a:r>
            <a:endParaRPr lang="en-US" sz="26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Spec to Strategy">
  <a:themeElements>
    <a:clrScheme name="Spec to Strategy">
      <a:dk1>
        <a:srgbClr val="0F1218"/>
      </a:dk1>
      <a:lt1>
        <a:srgbClr val="FFFFFF"/>
      </a:lt1>
      <a:dk2>
        <a:srgbClr val="14171C"/>
      </a:dk2>
      <a:lt2>
        <a:srgbClr val="F5F6F8"/>
      </a:lt2>
      <a:accent1>
        <a:srgbClr val="FF7A33"/>
      </a:accent1>
      <a:accent2>
        <a:srgbClr val="2F5FC4"/>
      </a:accent2>
      <a:accent3>
        <a:srgbClr val="9AA3B2"/>
      </a:accent3>
      <a:accent4>
        <a:srgbClr val="B44A12"/>
      </a:accent4>
      <a:accent5>
        <a:srgbClr val="7FAEFF"/>
      </a:accent5>
      <a:accent6>
        <a:srgbClr val="4A5260"/>
      </a:accent6>
      <a:hlink>
        <a:srgbClr val="2F5FC4"/>
      </a:hlink>
      <a:folHlink>
        <a:srgbClr val="4A5260"/>
      </a:folHlink>
    </a:clrScheme>
    <a:fontScheme name="Spec to Strategy">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 in. Strategy out.</dc:title>
  <dc:subject>Zentral Hack 2026: an agent harness for unseen games</dc:subject>
  <dc:creator>PptxGenJS</dc:creator>
  <cp:lastModifiedBy>PptxGenJS</cp:lastModifiedBy>
  <cp:revision>1</cp:revision>
  <dcterms:created xsi:type="dcterms:W3CDTF">2026-10-24T13:16:30Z</dcterms:created>
  <dcterms:modified xsi:type="dcterms:W3CDTF">2026-10-24T13:16:30Z</dcterms:modified>
</cp:coreProperties>
</file>