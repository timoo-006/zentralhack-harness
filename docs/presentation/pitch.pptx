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3de4b236-e1e0-7c48-dae6-f7bc5f85186f}">
          <p14:sldIdLst>
            <p14:sldId id="256"/>
            <p14:sldId id="257"/>
          </p14:sldIdLst>
        </p14:section>
        <p14:section name="How" id="{7172eba6-0b57-1e86-863f-f5e4f7187830}">
          <p14:sldIdLst>
            <p14:sldId id="258"/>
            <p14:sldId id="259"/>
          </p14:sldIdLst>
        </p14:section>
        <p14:section name="Proof" id="{dfa87173-28dc-2771-c1f1-80202cd8f669}">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Net points per strategy</c:v>
                </c:pt>
              </c:strCache>
            </c:strRef>
          </c:tx>
          <c:spPr>
            <a:solidFill>
              <a:srgbClr val="B44A12"/>
            </a:solidFill>
            <a:effectLst/>
          </c:spPr>
          <c:invertIfNegative val="0"/>
          <c:dLbls>
            <c:numFmt formatCode="+0.0;−0.0;0" sourceLinked="0"/>
            <c:txPr>
              <a:bodyPr/>
              <a:lstStyle/>
              <a:p>
                <a:pPr>
                  <a:defRPr b="0" i="0" strike="noStrike" sz="1400" u="none">
                    <a:solidFill>
                      <a:srgbClr val="14171C"/>
                    </a:solidFill>
                    <a:latin typeface="+mn-lt"/>
                  </a:defRPr>
                </a:pPr>
              </a:p>
            </c:txPr>
            <c:showLegendKey val="0"/>
            <c:showVal val="1"/>
            <c:showCatName val="0"/>
            <c:showSerName val="0"/>
            <c:showPercent val="0"/>
            <c:showBubbleSize val="0"/>
            <c:showLeaderLines val="0"/>
          </c:dLbls>
          <c:dPt>
            <c:idx val="0"/>
            <c:invertIfNegative val="0"/>
            <c:bubble3D val="0"/>
            <c:spPr>
              <a:solidFill>
                <a:srgbClr val="B44A12"/>
              </a:solidFill>
              <a:effectLst/>
            </c:spPr>
          </c:dPt>
          <c:dPt>
            <c:idx val="1"/>
            <c:invertIfNegative val="0"/>
            <c:bubble3D val="0"/>
            <c:spPr>
              <a:solidFill>
                <a:srgbClr val="B44A12"/>
              </a:solidFill>
              <a:effectLst/>
            </c:spPr>
          </c:dPt>
          <c:dPt>
            <c:idx val="2"/>
            <c:invertIfNegative val="0"/>
            <c:bubble3D val="0"/>
            <c:spPr>
              <a:solidFill>
                <a:srgbClr val="9AA3B2"/>
              </a:solidFill>
              <a:effectLst/>
            </c:spPr>
          </c:dPt>
          <c:dPt>
            <c:idx val="3"/>
            <c:invertIfNegative val="0"/>
            <c:bubble3D val="0"/>
            <c:spPr>
              <a:solidFill>
                <a:srgbClr val="9AA3B2"/>
              </a:solidFill>
              <a:effectLst/>
            </c:spPr>
          </c:dPt>
          <c:cat>
            <c:multiLvlStrRef>
              <c:f>Sheet1!$A$2:$A$5</c:f>
              <c:multiLvlStrCache>
                <c:ptCount val="4"/>
                <c:lvl>
                  <c:pt idx="0">
                    <c:v>Final pipeline</c:v>
                  </c:pt>
                  <c:pt idx="1">
                    <c:v>With the sparring draft</c:v>
                  </c:pt>
                  <c:pt idx="2">
                    <c:v>Without improvement rounds</c:v>
                  </c:pt>
                  <c:pt idx="3">
                    <c:v>One-shot baseline</c:v>
                  </c:pt>
                </c:lvl>
              </c:multiLvlStrCache>
            </c:multiLvlStrRef>
          </c:cat>
          <c:val>
            <c:numRef>
              <c:f>Sheet1!$B$2:$B$5</c:f>
              <c:numCache>
                <c:formatCode>General</c:formatCode>
                <c:ptCount val="4"/>
                <c:pt idx="0">
                  <c:v>113</c:v>
                </c:pt>
                <c:pt idx="1">
                  <c:v>63.5</c:v>
                </c:pt>
                <c:pt idx="2">
                  <c:v>-61</c:v>
                </c:pt>
                <c:pt idx="3">
                  <c:v>-115.5</c:v>
                </c:pt>
              </c:numCache>
            </c:numRef>
          </c:val>
        </c:ser>
        <c:dLbls>
          <c:numFmt formatCode="+0.0;−0.0;0" sourceLinked="0"/>
          <c:txPr>
            <a:bodyPr/>
            <a:lstStyle/>
            <a:p>
              <a:pPr>
                <a:defRPr b="0" i="0" strike="noStrike" sz="1400" u="none">
                  <a:solidFill>
                    <a:srgbClr val="1417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400" b="0" i="0" u="none" strike="noStrike">
                <a:solidFill>
                  <a:srgbClr val="14171C"/>
                </a:solidFill>
                <a:latin typeface="+mn-lt"/>
              </a:defRPr>
            </a:pPr>
            <a:endParaRPr lang="en-US"/>
          </a:p>
        </c:txPr>
        <c:crossAx val="2094734552"/>
        <c:crosses val="autoZero"/>
        <c:auto val="1"/>
        <c:lblAlgn val="ctr"/>
        <c:noMultiLvlLbl val="1"/>
      </c:catAx>
      <c:valAx>
        <c:axId val="2094734552"/>
        <c:scaling>
          <c:orientation val="minMax"/>
          <c:max val="150"/>
          <c:min val="-1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task: a written game spec in, a strategy file out, unattended, on three budgets from three cents and three minutes up to ten dollars and thirty minutes. Only wins count. We started with research: Google DeepMind’s Code World Models show that an LLM writing a simulator and search code wins about 85% of games, against about 30% when it plays move by move. So our insight: the LLM is the programmer, not the player, and nothing it writes is trusted before it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(0:40–1:15) The pipeline. It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(1:15–1:45) We built the harness the way it works itself. Claude Code was our engineering team: parallel agents wrote and reviewed every module, held to 216 tests. Then we ran loops. Besides the two dev games we built six games of our own with new mechanics, and kept two of them out of all tuning, as an honest exam. Each epoch: switch features off one at a time, measure, keep only what wins. 58 runs, about 21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(1:45–2:15) This is what the loops told us. Each bar is a variant of our harness in a tournament against the others, scored like the real event. The one-shot baseline, one draft, which is what a typical harness ships, comes last. Without improvement rounds we lose. The sparring draft we believed in made selection worse, so the data removed it. The final pipeline wins: 48 to 0 head-to-head against the one-shot baseline on beta. In epoch 2, every feature we tried to remove again lost on two of three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The real question is unseen games. Two of our games never touched tuning. On them, the full pipeline beats the one-shot baseline 44 to 1 to 3 and 32 to 0 to 16. And robustness: all 53 strategies from our experiments pass the official conformance check. Zero forfeits.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(2:35–3:00) Finally, one real run, recorded in the evaluation’s Docker container on the task-A budget. After 24 seconds the first valid draft leads. At 35 seconds the simulator fails a worked example from the spec, at 68 it is repaired and passes. Self-play ranks the drafts, an improvement round adds a challenger, and at 141 seconds the champion is delivered, for 1.8 cents. Spec in, strategy out, never a forfeit. Thank you.
LIVE DEMO OPTION: start `./run.sh tasks/beta-A` on a second screen when the pitch begins (about 2.5 minutes, about $0.02); on this slide show its last lines (exit code 0) and `arena check ... PASSED`. If anything goes wrong, this slide is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10896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10896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6732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6732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42569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42569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301752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85%</a:t>
            </a:r>
            <a:pPr indent="0" marL="0">
              <a:buNone/>
            </a:pPr>
            <a:r>
              <a:rPr lang="en-US" sz="2400" b="1" dirty="0">
                <a:solidFill>
                  <a:srgbClr val="4A5260"/>
                </a:solidFill>
                <a:latin typeface="Century Gothic" pitchFamily="34" charset="0"/>
                <a:ea typeface="Century Gothic" pitchFamily="34" charset="-122"/>
                <a:cs typeface="Century Gothic" pitchFamily="34" charset="-120"/>
              </a:rPr>
              <a:t>  vs  </a:t>
            </a:r>
            <a:pPr indent="0" marL="0">
              <a:buNone/>
            </a:pPr>
            <a:r>
              <a:rPr lang="en-US" sz="4400" b="1" dirty="0">
                <a:solidFill>
                  <a:srgbClr val="9AA3B2"/>
                </a:solidFill>
                <a:latin typeface="Century Gothic" pitchFamily="34" charset="0"/>
                <a:ea typeface="Century Gothic" pitchFamily="34" charset="-122"/>
                <a:cs typeface="Century Gothic" pitchFamily="34" charset="-120"/>
              </a:rPr>
              <a:t>30%</a:t>
            </a:r>
            <a:endParaRPr lang="en-US" sz="4400" dirty="0"/>
          </a:p>
        </p:txBody>
      </p:sp>
      <p:sp>
        <p:nvSpPr>
          <p:cNvPr id="15" name="Text 13"/>
          <p:cNvSpPr txBox="1"/>
          <p:nvPr/>
        </p:nvSpPr>
        <p:spPr>
          <a:xfrm>
            <a:off x="4663440" y="3977640"/>
            <a:ext cx="2880360" cy="4572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LLM writes code  vs.  LLM plays</a:t>
            </a:r>
            <a:endParaRPr lang="en-US" sz="1600" dirty="0"/>
          </a:p>
        </p:txBody>
      </p:sp>
      <p:sp>
        <p:nvSpPr>
          <p:cNvPr id="16" name="Text 14"/>
          <p:cNvSpPr txBox="1"/>
          <p:nvPr/>
        </p:nvSpPr>
        <p:spPr>
          <a:xfrm>
            <a:off x="4663440" y="466344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48840"/>
            <a:ext cx="3520440" cy="3108960"/>
          </a:xfrm>
          <a:prstGeom prst="roundRect">
            <a:avLst>
              <a:gd name="adj" fmla="val 3529"/>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42316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3017520"/>
            <a:ext cx="2880360" cy="219456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0" name="Text 18"/>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Many drafts, one verified simulator, one champion</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8</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2 held out</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58</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$21</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216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Failure mining</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3 defects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EPOCH 1 · RESULT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Every feature had to earn its place</a:t>
            </a:r>
            <a:endParaRPr lang="en-US" sz="3400" dirty="0"/>
          </a:p>
        </p:txBody>
      </p:sp>
      <p:graphicFrame>
        <p:nvGraphicFramePr>
          <p:cNvPr id="4" name="ablation chart" descr=""/>
          <p:cNvGraphicFramePr/>
          <p:nvPr/>
        </p:nvGraphicFramePr>
        <p:xfrm>
          <a:off x="548640" y="1783080"/>
          <a:ext cx="7589520" cy="4160520"/>
        </p:xfrm>
        <a:graphic xmlns:a="http://schemas.openxmlformats.org/drawingml/2006/main">
          <a:graphicData uri="http://schemas.openxmlformats.org/drawingml/2006/chart">
            <c:chart xmlns:c="http://schemas.openxmlformats.org/drawingml/2006/chart" r:id="rId1"/>
          </a:graphicData>
        </a:graphic>
      </p:graphicFrame>
      <p:sp>
        <p:nvSpPr>
          <p:cNvPr id="5" name="callout 1"/>
          <p:cNvSpPr/>
          <p:nvPr/>
        </p:nvSpPr>
        <p:spPr>
          <a:xfrm>
            <a:off x="8549640" y="1874520"/>
            <a:ext cx="3093415" cy="1783080"/>
          </a:xfrm>
          <a:prstGeom prst="roundRect">
            <a:avLst>
              <a:gd name="adj" fmla="val 5128"/>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823960" y="2103120"/>
            <a:ext cx="2544775" cy="640080"/>
          </a:xfrm>
          <a:prstGeom prst="rect">
            <a:avLst/>
          </a:prstGeom>
          <a:noFill/>
          <a:ln/>
        </p:spPr>
        <p:txBody>
          <a:bodyPr wrap="square" lIns="0" tIns="0" rIns="0" bIns="0" rtlCol="0" anchor="ctr"/>
          <a:lstStyle/>
          <a:p>
            <a:pPr indent="0" marL="0">
              <a:buNone/>
            </a:pPr>
            <a:r>
              <a:rPr lang="en-US" sz="3200" b="1" dirty="0">
                <a:solidFill>
                  <a:srgbClr val="14171C"/>
                </a:solidFill>
                <a:latin typeface="Century Gothic" pitchFamily="34" charset="0"/>
                <a:ea typeface="Century Gothic" pitchFamily="34" charset="-122"/>
                <a:cs typeface="Century Gothic" pitchFamily="34" charset="-120"/>
              </a:rPr>
              <a:t>48–0–0</a:t>
            </a:r>
            <a:endParaRPr lang="en-US" sz="3200" dirty="0"/>
          </a:p>
        </p:txBody>
      </p:sp>
      <p:sp>
        <p:nvSpPr>
          <p:cNvPr id="7" name="Text 4"/>
          <p:cNvSpPr txBox="1"/>
          <p:nvPr/>
        </p:nvSpPr>
        <p:spPr>
          <a:xfrm>
            <a:off x="8823960" y="2788920"/>
            <a:ext cx="2544775" cy="7315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vs. one-shot, head-to-head</a:t>
            </a:r>
            <a:endParaRPr lang="en-US" sz="1400" dirty="0"/>
          </a:p>
        </p:txBody>
      </p:sp>
      <p:sp>
        <p:nvSpPr>
          <p:cNvPr id="8" name="Text 5"/>
          <p:cNvSpPr txBox="1"/>
          <p:nvPr/>
        </p:nvSpPr>
        <p:spPr>
          <a:xfrm>
            <a:off x="548640" y="6035040"/>
            <a:ext cx="10424160" cy="320040"/>
          </a:xfrm>
          <a:prstGeom prst="rect">
            <a:avLst/>
          </a:prstGeom>
          <a:noFill/>
          <a:ln/>
        </p:spPr>
        <p:txBody>
          <a:bodyPr wrap="square" lIns="0" tIns="0" rIns="0" bIns="0" rtlCol="0" anchor="ctr"/>
          <a:lstStyle/>
          <a:p>
            <a:pPr indent="0" marL="0">
              <a:buNone/>
            </a:pPr>
            <a:r>
              <a:rPr lang="en-US" sz="1100" dirty="0">
                <a:solidFill>
                  <a:srgbClr val="6B7380"/>
                </a:solidFill>
                <a:latin typeface="Calibri" pitchFamily="34" charset="0"/>
                <a:ea typeface="Calibri" pitchFamily="34" charset="-122"/>
                <a:cs typeface="Calibri" pitchFamily="34" charset="-120"/>
              </a:rPr>
              <a:t>Net points, 3 games, +1 / 0 / −1 per match</a:t>
            </a:r>
            <a:endParaRPr lang="en-US" sz="11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3A2010"/>
                </a:solidFill>
                <a:latin typeface="Consolas" pitchFamily="34" charset="0"/>
                <a:ea typeface="Consolas" pitchFamily="34" charset="-122"/>
                <a:cs typeface="Consolas" pitchFamily="34" charset="-120"/>
              </a:rPr>
              <a:t>THE EXAM</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0F1218"/>
                </a:solidFill>
                <a:latin typeface="Century Gothic" pitchFamily="34" charset="0"/>
                <a:ea typeface="Century Gothic" pitchFamily="34" charset="-122"/>
                <a:cs typeface="Century Gothic" pitchFamily="34" charset="-120"/>
              </a:rPr>
              <a:t>It transfers to games it was never tuned on</a:t>
            </a:r>
            <a:endParaRPr lang="en-US" sz="3400" dirty="0"/>
          </a:p>
        </p:txBody>
      </p:sp>
      <p:sp>
        <p:nvSpPr>
          <p:cNvPr id="4" name="Text 2"/>
          <p:cNvSpPr txBox="1"/>
          <p:nvPr/>
        </p:nvSpPr>
        <p:spPr>
          <a:xfrm>
            <a:off x="54864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44–1–3</a:t>
            </a:r>
            <a:endParaRPr lang="en-US" sz="5600" dirty="0"/>
          </a:p>
        </p:txBody>
      </p:sp>
      <p:sp>
        <p:nvSpPr>
          <p:cNvPr id="5" name="Shape 3"/>
          <p:cNvSpPr/>
          <p:nvPr/>
        </p:nvSpPr>
        <p:spPr>
          <a:xfrm>
            <a:off x="548640" y="4023360"/>
            <a:ext cx="1097280" cy="0"/>
          </a:xfrm>
          <a:prstGeom prst="line">
            <a:avLst/>
          </a:prstGeom>
          <a:noFill/>
          <a:ln w="25400">
            <a:solidFill>
              <a:srgbClr val="0F1218"/>
            </a:solidFill>
            <a:prstDash val="solid"/>
          </a:ln>
        </p:spPr>
      </p:sp>
      <p:sp>
        <p:nvSpPr>
          <p:cNvPr id="6" name="Text 4"/>
          <p:cNvSpPr txBox="1"/>
          <p:nvPr/>
        </p:nvSpPr>
        <p:spPr>
          <a:xfrm>
            <a:off x="54864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held-out game 1</a:t>
            </a:r>
            <a:endParaRPr lang="en-US" sz="2200" dirty="0"/>
          </a:p>
        </p:txBody>
      </p:sp>
      <p:sp>
        <p:nvSpPr>
          <p:cNvPr id="7" name="Text 5"/>
          <p:cNvSpPr txBox="1"/>
          <p:nvPr/>
        </p:nvSpPr>
        <p:spPr>
          <a:xfrm>
            <a:off x="434340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32–0–16</a:t>
            </a:r>
            <a:endParaRPr lang="en-US" sz="5600" dirty="0"/>
          </a:p>
        </p:txBody>
      </p:sp>
      <p:sp>
        <p:nvSpPr>
          <p:cNvPr id="8" name="Shape 6"/>
          <p:cNvSpPr/>
          <p:nvPr/>
        </p:nvSpPr>
        <p:spPr>
          <a:xfrm>
            <a:off x="4343400" y="4023360"/>
            <a:ext cx="1097280" cy="0"/>
          </a:xfrm>
          <a:prstGeom prst="line">
            <a:avLst/>
          </a:prstGeom>
          <a:noFill/>
          <a:ln w="25400">
            <a:solidFill>
              <a:srgbClr val="0F1218"/>
            </a:solidFill>
            <a:prstDash val="solid"/>
          </a:ln>
        </p:spPr>
      </p:sp>
      <p:sp>
        <p:nvSpPr>
          <p:cNvPr id="9" name="Text 7"/>
          <p:cNvSpPr txBox="1"/>
          <p:nvPr/>
        </p:nvSpPr>
        <p:spPr>
          <a:xfrm>
            <a:off x="434340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held-out game 2</a:t>
            </a:r>
            <a:endParaRPr lang="en-US" sz="2200" dirty="0"/>
          </a:p>
        </p:txBody>
      </p:sp>
      <p:sp>
        <p:nvSpPr>
          <p:cNvPr id="10" name="Text 8"/>
          <p:cNvSpPr txBox="1"/>
          <p:nvPr/>
        </p:nvSpPr>
        <p:spPr>
          <a:xfrm>
            <a:off x="8138160" y="2743200"/>
            <a:ext cx="3520440" cy="1097280"/>
          </a:xfrm>
          <a:prstGeom prst="rect">
            <a:avLst/>
          </a:prstGeom>
          <a:noFill/>
          <a:ln/>
        </p:spPr>
        <p:txBody>
          <a:bodyPr wrap="square" lIns="0" tIns="0" rIns="0" bIns="0" rtlCol="0" anchor="ctr"/>
          <a:lstStyle/>
          <a:p>
            <a:pPr indent="0" marL="0">
              <a:buNone/>
            </a:pPr>
            <a:r>
              <a:rPr lang="en-US" sz="5600" b="1" dirty="0">
                <a:solidFill>
                  <a:srgbClr val="0F1218"/>
                </a:solidFill>
                <a:latin typeface="Century Gothic" pitchFamily="34" charset="0"/>
                <a:ea typeface="Century Gothic" pitchFamily="34" charset="-122"/>
                <a:cs typeface="Century Gothic" pitchFamily="34" charset="-120"/>
              </a:rPr>
              <a:t>53 / 53</a:t>
            </a:r>
            <a:endParaRPr lang="en-US" sz="5600" dirty="0"/>
          </a:p>
        </p:txBody>
      </p:sp>
      <p:sp>
        <p:nvSpPr>
          <p:cNvPr id="11" name="Shape 9"/>
          <p:cNvSpPr/>
          <p:nvPr/>
        </p:nvSpPr>
        <p:spPr>
          <a:xfrm>
            <a:off x="8138160" y="4023360"/>
            <a:ext cx="1097280" cy="0"/>
          </a:xfrm>
          <a:prstGeom prst="line">
            <a:avLst/>
          </a:prstGeom>
          <a:noFill/>
          <a:ln w="25400">
            <a:solidFill>
              <a:srgbClr val="0F1218"/>
            </a:solidFill>
            <a:prstDash val="solid"/>
          </a:ln>
        </p:spPr>
      </p:sp>
      <p:sp>
        <p:nvSpPr>
          <p:cNvPr id="12" name="Text 10"/>
          <p:cNvSpPr txBox="1"/>
          <p:nvPr/>
        </p:nvSpPr>
        <p:spPr>
          <a:xfrm>
            <a:off x="8138160" y="4251960"/>
            <a:ext cx="3337560" cy="548640"/>
          </a:xfrm>
          <a:prstGeom prst="rect">
            <a:avLst/>
          </a:prstGeom>
          <a:noFill/>
          <a:ln/>
        </p:spPr>
        <p:txBody>
          <a:bodyPr wrap="square" lIns="0" tIns="0" rIns="0" bIns="0" rtlCol="0" anchor="t"/>
          <a:lstStyle/>
          <a:p>
            <a:pPr indent="0" marL="0">
              <a:buNone/>
            </a:pPr>
            <a:r>
              <a:rPr lang="en-US" sz="2200" dirty="0">
                <a:solidFill>
                  <a:srgbClr val="2A1408"/>
                </a:solidFill>
                <a:latin typeface="Calibri" pitchFamily="34" charset="0"/>
                <a:ea typeface="Calibri" pitchFamily="34" charset="-122"/>
                <a:cs typeface="Calibri" pitchFamily="34" charset="-120"/>
              </a:rPr>
              <a:t>zero forfeits</a:t>
            </a:r>
            <a:endParaRPr lang="en-US" sz="2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DEMO · ONE REAL RUN</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141 seconds, 1.8 cents, one champion</a:t>
            </a:r>
            <a:endParaRPr lang="en-US" sz="3400" dirty="0"/>
          </a:p>
        </p:txBody>
      </p:sp>
      <p:sp>
        <p:nvSpPr>
          <p:cNvPr id="4" name="axis"/>
          <p:cNvSpPr/>
          <p:nvPr/>
        </p:nvSpPr>
        <p:spPr>
          <a:xfrm>
            <a:off x="822960" y="333756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33756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56616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56616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28269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28269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28269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28269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28269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28269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532120"/>
            <a:ext cx="7772400" cy="502920"/>
          </a:xfrm>
          <a:prstGeom prst="rect">
            <a:avLst/>
          </a:prstGeom>
          <a:noFill/>
          <a:ln/>
        </p:spPr>
        <p:txBody>
          <a:bodyPr wrap="square" lIns="0" tIns="0" rIns="0" bIns="0" rtlCol="0" anchor="ctr"/>
          <a:lstStyle/>
          <a:p>
            <a:pPr indent="0" marL="0">
              <a:buNone/>
            </a:pPr>
            <a:r>
              <a:rPr lang="en-US" sz="26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2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2026-10-24T12:01:15Z</dcterms:created>
  <dcterms:modified xsi:type="dcterms:W3CDTF">2026-10-24T12:01:15Z</dcterms:modified>
</cp:coreProperties>
</file>